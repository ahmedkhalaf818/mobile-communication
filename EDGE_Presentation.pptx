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87" r:id="rId5"/>
    <p:sldId id="288" r:id="rId6"/>
    <p:sldId id="289" r:id="rId7"/>
    <p:sldId id="290" r:id="rId8"/>
    <p:sldId id="286" r:id="rId9"/>
    <p:sldId id="284" r:id="rId10"/>
    <p:sldId id="283" r:id="rId11"/>
    <p:sldId id="285" r:id="rId12"/>
    <p:sldId id="279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2B151-107A-4EBC-BEBF-D237E094BB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49B21-FDEC-4F25-AC2C-B962B9978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A70B3-5097-47A9-8E9C-AE38CFC1570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243C8-95F5-402A-A876-8FB4E7689B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D2946-93CB-4C01-9C57-8C978D6FD8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3228B-6BD7-4672-9C38-499D8B285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926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75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98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1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pn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telkom2013.wordpress.com/wp-content/uploads/2014/02/wireless-comm-princip-n-practice-theodoresrappaport.pdfn" TargetMode="External"/><Relationship Id="rId2" Type="http://schemas.openxmlformats.org/officeDocument/2006/relationships/hyperlink" Target="https://courses.cs.washington.edu/courses/cse590y/02sp/furaskar.pdf" TargetMode="Externa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—Cairo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Communications</a:t>
            </a:r>
            <a:endParaRPr lang="en-US" sz="2000" dirty="0"/>
          </a:p>
          <a:p>
            <a:pPr marL="0" indent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ELC4017  ·  4th Year  ·  2nd Semester  ·  2025 / 2026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412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Networks</a:t>
            </a:r>
            <a:b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Data rate for GSM Evolution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2441448"/>
            <a:ext cx="8412480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Prof. Hebat-Allah M. Mourad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94C442A-01EA-49F4-BEAC-2E4454B44B8D}"/>
              </a:ext>
            </a:extLst>
          </p:cNvPr>
          <p:cNvSpPr/>
          <p:nvPr/>
        </p:nvSpPr>
        <p:spPr>
          <a:xfrm>
            <a:off x="411480" y="3308852"/>
            <a:ext cx="8412480" cy="159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Georgia" pitchFamily="34" charset="0"/>
              </a:rPr>
              <a:t>•  Ibrahim Ramadan Ibrahim Hassan</a:t>
            </a:r>
          </a:p>
          <a:p>
            <a:r>
              <a:rPr lang="en-US" sz="1400" dirty="0">
                <a:solidFill>
                  <a:srgbClr val="FFFFFF"/>
                </a:solidFill>
                <a:latin typeface="Georgia" pitchFamily="34" charset="0"/>
              </a:rPr>
              <a:t>•  Ahmed Khalaf Mohamed Ali</a:t>
            </a:r>
          </a:p>
          <a:p>
            <a:r>
              <a:rPr lang="en-US" sz="1400" dirty="0">
                <a:solidFill>
                  <a:srgbClr val="FFFFFF"/>
                </a:solidFill>
                <a:latin typeface="Georgia" pitchFamily="34" charset="0"/>
              </a:rPr>
              <a:t>•  Hassan Osama Hassan Mohamed</a:t>
            </a:r>
          </a:p>
          <a:p>
            <a:r>
              <a:rPr lang="en-US" sz="1400" dirty="0">
                <a:solidFill>
                  <a:srgbClr val="FFFFFF"/>
                </a:solidFill>
                <a:latin typeface="Georgia" pitchFamily="34" charset="0"/>
              </a:rPr>
              <a:t>•  </a:t>
            </a:r>
            <a:r>
              <a:rPr lang="es-ES" sz="1400" dirty="0">
                <a:solidFill>
                  <a:srgbClr val="FFFFFF"/>
                </a:solidFill>
                <a:latin typeface="Georgia" pitchFamily="34" charset="0"/>
              </a:rPr>
              <a:t>Hussein Abd El-</a:t>
            </a:r>
            <a:r>
              <a:rPr lang="es-ES" sz="1400" dirty="0" err="1">
                <a:solidFill>
                  <a:srgbClr val="FFFFFF"/>
                </a:solidFill>
                <a:latin typeface="Georgia" pitchFamily="34" charset="0"/>
              </a:rPr>
              <a:t>Aal</a:t>
            </a:r>
            <a:r>
              <a:rPr lang="es-ES" sz="1400" dirty="0">
                <a:solidFill>
                  <a:srgbClr val="FFFFFF"/>
                </a:solidFill>
                <a:latin typeface="Georgia" pitchFamily="34" charset="0"/>
              </a:rPr>
              <a:t> Ali Abd El-</a:t>
            </a:r>
            <a:r>
              <a:rPr lang="es-ES" sz="1400" dirty="0" err="1">
                <a:solidFill>
                  <a:srgbClr val="FFFFFF"/>
                </a:solidFill>
                <a:latin typeface="Georgia" pitchFamily="34" charset="0"/>
              </a:rPr>
              <a:t>Aal</a:t>
            </a:r>
            <a:endParaRPr lang="es-ES" sz="1400" dirty="0">
              <a:solidFill>
                <a:srgbClr val="FFFFFF"/>
              </a:solidFill>
              <a:latin typeface="Georgia" pitchFamily="34" charset="0"/>
            </a:endParaRPr>
          </a:p>
          <a:p>
            <a:r>
              <a:rPr lang="en-US" sz="1400" dirty="0">
                <a:solidFill>
                  <a:srgbClr val="FFFFFF"/>
                </a:solidFill>
                <a:latin typeface="Georgia" pitchFamily="34" charset="0"/>
              </a:rPr>
              <a:t>• Khaled Mohamed Ali Ramadan</a:t>
            </a:r>
            <a:endParaRPr lang="ar-EG" sz="1400" dirty="0">
              <a:solidFill>
                <a:srgbClr val="FFFFFF"/>
              </a:solidFill>
              <a:latin typeface="Georgia" pitchFamily="34" charset="0"/>
            </a:endParaRPr>
          </a:p>
          <a:p>
            <a:r>
              <a:rPr lang="en-US" sz="1400" dirty="0">
                <a:solidFill>
                  <a:srgbClr val="FFFFFF"/>
                </a:solidFill>
                <a:latin typeface="Georgia" pitchFamily="34" charset="0"/>
              </a:rPr>
              <a:t>• Mohamed Khaled Mohamed </a:t>
            </a:r>
            <a:r>
              <a:rPr lang="en-US" sz="1400" dirty="0" err="1">
                <a:solidFill>
                  <a:srgbClr val="FFFFFF"/>
                </a:solidFill>
                <a:latin typeface="Georgia" pitchFamily="34" charset="0"/>
              </a:rPr>
              <a:t>Shata</a:t>
            </a:r>
            <a:endParaRPr lang="en-US" sz="1400" dirty="0">
              <a:solidFill>
                <a:srgbClr val="FFFFFF"/>
              </a:solidFill>
              <a:latin typeface="Georgia" pitchFamily="34" charset="0"/>
            </a:endParaRPr>
          </a:p>
          <a:p>
            <a:endParaRPr lang="en-US" sz="1300" dirty="0"/>
          </a:p>
        </p:txBody>
      </p:sp>
      <p:sp>
        <p:nvSpPr>
          <p:cNvPr id="12" name="PageNum">
            <a:extLst>
              <a:ext uri="{FF2B5EF4-FFF2-40B4-BE49-F238E27FC236}">
                <a16:creationId xmlns:a16="http://schemas.microsoft.com/office/drawing/2014/main" id="{F3ADFC77-A6EA-79AD-CEB3-48451CC3CABF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658368" cy="71323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6070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elements, BTS, BSC, MSC, topology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65836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80136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78408" y="1801368"/>
            <a:ext cx="7845552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596896"/>
            <a:ext cx="65836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59689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" y="3392424"/>
            <a:ext cx="8503920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392424"/>
            <a:ext cx="65836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392424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44728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7581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CCI, ACI, ISI — measurement &amp; mitigation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18795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4187952"/>
            <a:ext cx="65836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4187952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424281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/ Air Interface &amp; Channel Structure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4553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types, logical channels, TDMA frame structure</a:t>
            </a:r>
            <a:endParaRPr lang="en-US" sz="11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998A52E1-933F-41BD-BFAF-366DCA9E677D}"/>
              </a:ext>
            </a:extLst>
          </p:cNvPr>
          <p:cNvSpPr/>
          <p:nvPr/>
        </p:nvSpPr>
        <p:spPr>
          <a:xfrm>
            <a:off x="978408" y="2578608"/>
            <a:ext cx="78455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81899E04-7BEA-443F-8179-D2082BC0D6A3}"/>
              </a:ext>
            </a:extLst>
          </p:cNvPr>
          <p:cNvSpPr/>
          <p:nvPr/>
        </p:nvSpPr>
        <p:spPr>
          <a:xfrm>
            <a:off x="1097280" y="265884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cs typeface="Calibri" pitchFamily="34" charset="-120"/>
              </a:rPr>
              <a:t>Cell Coverage</a:t>
            </a: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971E9271-8847-49C6-9146-D7772342266A}"/>
              </a:ext>
            </a:extLst>
          </p:cNvPr>
          <p:cNvSpPr/>
          <p:nvPr/>
        </p:nvSpPr>
        <p:spPr>
          <a:xfrm>
            <a:off x="1097280" y="289886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Propagation models, link budget, enhancement techniques</a:t>
            </a: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84A3E819-2C2C-45A2-A704-716633DD27FD}"/>
              </a:ext>
            </a:extLst>
          </p:cNvPr>
          <p:cNvSpPr/>
          <p:nvPr/>
        </p:nvSpPr>
        <p:spPr>
          <a:xfrm>
            <a:off x="1097280" y="184205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Services &amp; Specifications</a:t>
            </a: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B0A0B066-9E70-4651-AC6E-BFB5AF703E71}"/>
              </a:ext>
            </a:extLst>
          </p:cNvPr>
          <p:cNvSpPr/>
          <p:nvPr/>
        </p:nvSpPr>
        <p:spPr>
          <a:xfrm>
            <a:off x="1097280" y="209624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8BAFD4"/>
                </a:solidFill>
                <a:latin typeface="Calibri" pitchFamily="34" charset="0"/>
                <a:cs typeface="Calibri" pitchFamily="34" charset="-120"/>
              </a:rPr>
              <a:t>Data rates, MCS levels, GPRS/EDGE services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</a:t>
            </a:r>
          </a:p>
          <a:p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Evolution  ·  Dual Domain  ·  MS · BSS/GERAN · Core Network  ·  PCU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E408EEF-9401-47B9-BC56-73A27C836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5486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EDGE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Introduction &amp;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EDGE?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Data rates for GSM Evolution — 2.75G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standardized to bridge 2G → 3G gap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the air interface only — not the core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GMSK replaced by 8PSK → 3 bits/symbol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200 kHz channels &amp; TDMA frame as GSM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downlink: 384 kbps (theoretical)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deployment: 120–200 kbps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27448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0328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Path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0328" y="1335024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Circuit-switched voice, 9.6 kbps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GPRS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Packet data, up to ~114 kbps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8PSK upgrade, up to 384 kbps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27448" y="27889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Motivation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320040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WCDMA/UMTS deployment cost was prohibitive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needed 3G speeds on 2G investment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changes limited to MS &amp; BTS edges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&amp; core needed software upgrades only</a:t>
            </a:r>
            <a:endParaRPr lang="en-US" sz="1150" dirty="0"/>
          </a:p>
        </p:txBody>
      </p:sp>
      <p:sp>
        <p:nvSpPr>
          <p:cNvPr id="14" name="PageNum">
            <a:extLst>
              <a:ext uri="{FF2B5EF4-FFF2-40B4-BE49-F238E27FC236}">
                <a16:creationId xmlns:a16="http://schemas.microsoft.com/office/drawing/2014/main" id="{FE1DBE66-4FEC-7D45-871E-3342890D349D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 — Dual Domain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Introduction &amp;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flat LTE, EDGE uses a Dual Domain architecture — circuit-switched voice bolted to a packet-switched data network.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4160520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3258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Circuit-Switched (CS) Domain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77393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&amp; SMS → MSC (Mobile Switching Centre)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GSM NSS — completely unchanged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GMSC bridges to external PSTN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834640"/>
            <a:ext cx="38862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2907792"/>
            <a:ext cx="34747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Packet-Switched (PS) Domain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24612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traffic → PCU → SGSN → GGSN → Internet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HLR: shared subscriber database (both domains)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data never overwhelms voice MSC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27448" y="132588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64608" y="1463040"/>
            <a:ext cx="3669792" cy="2560320"/>
          </a:xfrm>
          <a:prstGeom prst="rect">
            <a:avLst/>
          </a:prstGeom>
          <a:solidFill>
            <a:srgbClr val="EBF5FB"/>
          </a:solidFill>
          <a:ln w="19050">
            <a:solidFill>
              <a:srgbClr val="0097A7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19202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🖼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64608" y="27889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1 here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30906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Domain Architecture of the EDGE Network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33832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(Right-click → Replace Image)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34822" y="4586748"/>
            <a:ext cx="4160520" cy="1828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457200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Dual Domain Architecture [2]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0CB922A-DF40-469D-BA2B-7E4FB5FD4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864" y="1386268"/>
            <a:ext cx="4051096" cy="2696782"/>
          </a:xfrm>
          <a:prstGeom prst="rect">
            <a:avLst/>
          </a:prstGeom>
        </p:spPr>
      </p:pic>
      <p:sp>
        <p:nvSpPr>
          <p:cNvPr id="23" name="PageNum">
            <a:extLst>
              <a:ext uri="{FF2B5EF4-FFF2-40B4-BE49-F238E27FC236}">
                <a16:creationId xmlns:a16="http://schemas.microsoft.com/office/drawing/2014/main" id="{82CBFE40-8C2E-A0C3-8C17-7238886B30C5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Components — MS &amp; BSS / GERAN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Introduction &amp;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60520" cy="43891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Station (MS)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26464"/>
            <a:ext cx="379476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Equipment (ME) + SIM card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Multislot Classes: how many of 8 TDMA slots it can use simultaneously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class → more slots → higher throughput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8PSK-capable RF transceiver — hardware upgrade required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equalizers to handle 8PSK demodulation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7448" y="91440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27448" y="914400"/>
            <a:ext cx="416052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8888" y="91440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/ GERAN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18888" y="1426464"/>
            <a:ext cx="397764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BTS: antennas &amp; transceivers — hardware upgrade (new 8PSK TRX boards)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BSC: controls multiple BTS — software upgrade only (link adaptation &amp; IR protocols)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PCU (at BSC): traffic router — inspects &amp; separates voice vs. packet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Abis interface links BTS to BSC</a:t>
            </a:r>
            <a:endParaRPr lang="en-US" sz="1150" dirty="0"/>
          </a:p>
        </p:txBody>
      </p:sp>
      <p:sp>
        <p:nvSpPr>
          <p:cNvPr id="13" name="PageNum">
            <a:extLst>
              <a:ext uri="{FF2B5EF4-FFF2-40B4-BE49-F238E27FC236}">
                <a16:creationId xmlns:a16="http://schemas.microsoft.com/office/drawing/2014/main" id="{066CCE46-F3AA-93CC-6E33-1C22F81E6A83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 &amp; Architectural Significance of the PCU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Introduction &amp;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024128"/>
            <a:ext cx="3941064" cy="2583853"/>
          </a:xfrm>
          <a:prstGeom prst="rect">
            <a:avLst/>
          </a:prstGeom>
          <a:solidFill>
            <a:srgbClr val="EBF5FB"/>
          </a:solidFill>
          <a:ln w="19050">
            <a:solidFill>
              <a:srgbClr val="0097A7"/>
            </a:solidFill>
            <a:prstDash val="dashDot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3904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🖼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" y="2359152"/>
            <a:ext cx="3904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7 here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670048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Access &amp; Control Interfaces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EDGE 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108960"/>
            <a:ext cx="3904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(Right-click → Replace Image)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4480560"/>
            <a:ext cx="4160520" cy="1828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448056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Fig.2— — Dual Domain Architecture [2]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27448" y="91440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27448" y="914400"/>
            <a:ext cx="41605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18888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 (NSS &amp; GPRS Core)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353312"/>
            <a:ext cx="39776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CS: NSS → MSC (voice switching)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PS: SGSN → mobility mgmt &amp; packet routing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PS: GGSN → IP gateway, allocates addresses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HLR: shared subscriber DB (CS &amp; PS)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SGSN/GGSN: software only — no hardware changes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30632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27448" y="3063240"/>
            <a:ext cx="416052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8888" y="3063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PCU &amp; Dual Domain Matter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8888" y="3511296"/>
            <a:ext cx="39776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data decoupled — MSC never overloaded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changes confined to edges (MS &amp; BTS)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66A4F8-8796-40B8-AFFE-A793A19BA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05840"/>
            <a:ext cx="3997700" cy="2696782"/>
          </a:xfrm>
          <a:prstGeom prst="rect">
            <a:avLst/>
          </a:prstGeom>
        </p:spPr>
      </p:pic>
      <p:sp>
        <p:nvSpPr>
          <p:cNvPr id="22" name="PageNum">
            <a:extLst>
              <a:ext uri="{FF2B5EF4-FFF2-40B4-BE49-F238E27FC236}">
                <a16:creationId xmlns:a16="http://schemas.microsoft.com/office/drawing/2014/main" id="{98A3DFF6-A3D6-138F-CC36-B50C0A4A03A9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Specifications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Data Services · Modulation Schemes · MCS Ladder · Spectral Efficiency</a:t>
            </a:r>
            <a:endParaRPr lang="en-US" sz="1400" dirty="0"/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</a:rPr>
              <a:t>8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E408EEF-9401-47B9-BC56-73A27C836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548640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65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4395E0D7-40BC-AF3D-F464-4DC670ADA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71" y="2550392"/>
            <a:ext cx="1936844" cy="177873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&amp; Coding Schemes (MCS)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77955"/>
            <a:ext cx="228600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77955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GMSK  (MCS : 1 → 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362004"/>
            <a:ext cx="2148840" cy="431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bit/symbol — constant envelope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46397"/>
            <a:ext cx="22860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846397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8PSK  (MCS : 7 → 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359" y="2256155"/>
            <a:ext cx="243397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bits/symbol — 3 × spectral efficiency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995160" y="39764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8 slots × 59.2 = 384 kbps</a:t>
            </a:r>
            <a:endParaRPr lang="en-US" sz="950" dirty="0"/>
          </a:p>
        </p:txBody>
      </p:sp>
      <p:sp>
        <p:nvSpPr>
          <p:cNvPr id="80" name="Text 31">
            <a:extLst>
              <a:ext uri="{FF2B5EF4-FFF2-40B4-BE49-F238E27FC236}">
                <a16:creationId xmlns:a16="http://schemas.microsoft.com/office/drawing/2014/main" id="{F397AA6A-5ADA-4C1C-AB34-F0CDAF42BEDC}"/>
              </a:ext>
            </a:extLst>
          </p:cNvPr>
          <p:cNvSpPr/>
          <p:nvPr/>
        </p:nvSpPr>
        <p:spPr>
          <a:xfrm>
            <a:off x="2303715" y="48817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Services &amp; Specs</a:t>
            </a:r>
            <a:endParaRPr lang="en-US" sz="900" dirty="0"/>
          </a:p>
        </p:txBody>
      </p:sp>
      <p:sp>
        <p:nvSpPr>
          <p:cNvPr id="81" name="PageNum">
            <a:extLst>
              <a:ext uri="{FF2B5EF4-FFF2-40B4-BE49-F238E27FC236}">
                <a16:creationId xmlns:a16="http://schemas.microsoft.com/office/drawing/2014/main" id="{718EB86B-D880-4129-AFEA-EAED238704B6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10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DA08E178-ED31-F96B-075B-70363AA1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370" y="1557341"/>
            <a:ext cx="6139311" cy="2584409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66BBCA9E-FDDA-5F0E-320D-5E8834AA170E}"/>
              </a:ext>
            </a:extLst>
          </p:cNvPr>
          <p:cNvSpPr/>
          <p:nvPr/>
        </p:nvSpPr>
        <p:spPr>
          <a:xfrm>
            <a:off x="274320" y="4412715"/>
            <a:ext cx="22860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F429FF-89BF-552E-3E06-46DDEB4825C3}"/>
              </a:ext>
            </a:extLst>
          </p:cNvPr>
          <p:cNvSpPr/>
          <p:nvPr/>
        </p:nvSpPr>
        <p:spPr>
          <a:xfrm>
            <a:off x="274320" y="4412715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Adaptation (LA)</a:t>
            </a:r>
            <a:endParaRPr lang="en-US" sz="1200" dirty="0"/>
          </a:p>
        </p:txBody>
      </p:sp>
      <p:sp>
        <p:nvSpPr>
          <p:cNvPr id="13" name="Shape 73">
            <a:extLst>
              <a:ext uri="{FF2B5EF4-FFF2-40B4-BE49-F238E27FC236}">
                <a16:creationId xmlns:a16="http://schemas.microsoft.com/office/drawing/2014/main" id="{18AC8611-4668-3E1B-5E1F-445ED50EAB92}"/>
              </a:ext>
            </a:extLst>
          </p:cNvPr>
          <p:cNvSpPr/>
          <p:nvPr/>
        </p:nvSpPr>
        <p:spPr>
          <a:xfrm>
            <a:off x="6995160" y="4156388"/>
            <a:ext cx="18288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4">
            <a:extLst>
              <a:ext uri="{FF2B5EF4-FFF2-40B4-BE49-F238E27FC236}">
                <a16:creationId xmlns:a16="http://schemas.microsoft.com/office/drawing/2014/main" id="{2093C96C-3C2B-3EE3-9C13-789452D160EE}"/>
              </a:ext>
            </a:extLst>
          </p:cNvPr>
          <p:cNvSpPr/>
          <p:nvPr/>
        </p:nvSpPr>
        <p:spPr>
          <a:xfrm>
            <a:off x="6995160" y="41563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8 slots × 59.2 = 473.6 kbps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Data Services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43940"/>
            <a:ext cx="1627632" cy="43891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4394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Internet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82852"/>
            <a:ext cx="1627632" cy="1502664"/>
          </a:xfrm>
          <a:prstGeom prst="rect">
            <a:avLst/>
          </a:prstGeom>
          <a:solidFill>
            <a:srgbClr val="F0F6FC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546861"/>
            <a:ext cx="1481328" cy="1406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120–200 kbps typical field rate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52828" y="1043940"/>
            <a:ext cx="1627632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2828" y="104394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2828" y="1482852"/>
            <a:ext cx="1627632" cy="1502664"/>
          </a:xfrm>
          <a:prstGeom prst="rect">
            <a:avLst/>
          </a:prstGeom>
          <a:solidFill>
            <a:srgbClr val="F0F6FC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25980" y="1546861"/>
            <a:ext cx="1481328" cy="1406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Packet-switched bearer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39896" y="1043940"/>
            <a:ext cx="1627632" cy="43891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39896" y="104394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39896" y="1482852"/>
            <a:ext cx="1627632" cy="1502664"/>
          </a:xfrm>
          <a:prstGeom prst="rect">
            <a:avLst/>
          </a:prstGeom>
          <a:solidFill>
            <a:srgbClr val="F0F6FC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13048" y="1546861"/>
            <a:ext cx="1481328" cy="1406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bearer        (no call setup)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26964" y="1043940"/>
            <a:ext cx="162763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26964" y="104394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26964" y="1482852"/>
            <a:ext cx="1627632" cy="1502664"/>
          </a:xfrm>
          <a:prstGeom prst="rect">
            <a:avLst/>
          </a:prstGeom>
          <a:solidFill>
            <a:srgbClr val="F0F6FC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00116" y="1546861"/>
            <a:ext cx="1481328" cy="1406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6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32–64 kbps audio (MP3/AAC)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14032" y="1043940"/>
            <a:ext cx="162763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14032" y="104394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14032" y="1482852"/>
            <a:ext cx="1627632" cy="1502664"/>
          </a:xfrm>
          <a:prstGeom prst="rect">
            <a:avLst/>
          </a:prstGeom>
          <a:solidFill>
            <a:srgbClr val="F0F6FC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63308" y="1546861"/>
            <a:ext cx="1540764" cy="1406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m-commerce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343656"/>
            <a:ext cx="8549640" cy="1325880"/>
          </a:xfrm>
          <a:prstGeom prst="rect">
            <a:avLst/>
          </a:prstGeom>
          <a:solidFill>
            <a:srgbClr val="D1E9F6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4533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473.6 kbps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3974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raw data rate (MCS-9, 8 slots)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06040" y="34533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120–200 kbps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3974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real-world throughput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4533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150–200 ms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974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latency (vs. 300–500 ms GPRS)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03720" y="34533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≈7×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03720" y="3974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improvement over GPRS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03715" y="48817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Services &amp; Specs</a:t>
            </a:r>
            <a:endParaRPr lang="en-US" sz="900" dirty="0"/>
          </a:p>
        </p:txBody>
      </p:sp>
      <p:sp>
        <p:nvSpPr>
          <p:cNvPr id="35" name="PageNum">
            <a:extLst>
              <a:ext uri="{FF2B5EF4-FFF2-40B4-BE49-F238E27FC236}">
                <a16:creationId xmlns:a16="http://schemas.microsoft.com/office/drawing/2014/main" id="{1E443AC1-5154-4515-9002-912AAE5C756B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Efficiency &amp; Backward Compatibility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7180" y="1021080"/>
            <a:ext cx="393192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" y="1021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Efficiency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0332" y="1450848"/>
            <a:ext cx="376732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46" indent="-171446">
              <a:spcAft>
                <a:spcPts val="500"/>
              </a:spcAft>
              <a:buSzPct val="100000"/>
              <a:buFont typeface="Arial" panose="020B07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200 kHz channel — no new spectrum needed</a:t>
            </a:r>
            <a:endParaRPr lang="en-US" sz="1200" dirty="0"/>
          </a:p>
          <a:p>
            <a:pPr marL="171446" indent="-171446">
              <a:spcAft>
                <a:spcPts val="500"/>
              </a:spcAft>
              <a:buSzPct val="100000"/>
              <a:buFont typeface="Arial" panose="020B07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raw efficiency</a:t>
            </a:r>
            <a:endParaRPr lang="en-US" sz="1200" dirty="0"/>
          </a:p>
          <a:p>
            <a:pPr marL="171446" indent="-171446">
              <a:spcAft>
                <a:spcPts val="500"/>
              </a:spcAft>
              <a:buSzPct val="100000"/>
              <a:buFont typeface="Arial" panose="020B07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simultaneous users per carrier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948940"/>
            <a:ext cx="3931920" cy="384048"/>
          </a:xfrm>
          <a:prstGeom prst="rect">
            <a:avLst/>
          </a:prstGeom>
          <a:solidFill>
            <a:srgbClr val="D1E9F6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29489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per Symbol Comparison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42032" y="34061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705" y="3466608"/>
            <a:ext cx="91440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42825" y="34391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42032" y="37719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705" y="3832368"/>
            <a:ext cx="274320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4193" y="380493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49140" y="1021080"/>
            <a:ext cx="429768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49140" y="10210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2292" y="1450848"/>
            <a:ext cx="41330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46" indent="-171446">
              <a:spcAft>
                <a:spcPts val="400"/>
              </a:spcAft>
              <a:buSzPct val="100000"/>
              <a:buFont typeface="Arial" panose="020B07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200 kHz carrier &amp; TDMA frame as legacy GSM</a:t>
            </a:r>
            <a:endParaRPr lang="en-US" sz="1200" dirty="0"/>
          </a:p>
          <a:p>
            <a:pPr marL="171446" indent="-171446">
              <a:spcAft>
                <a:spcPts val="400"/>
              </a:spcAft>
              <a:buSzPct val="100000"/>
              <a:buFont typeface="Arial" panose="020B07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MS falls back to GPRS/GSM on poor signal</a:t>
            </a:r>
            <a:endParaRPr lang="en-US" sz="1200" dirty="0"/>
          </a:p>
          <a:p>
            <a:pPr marL="171446" indent="-171446">
              <a:spcAft>
                <a:spcPts val="400"/>
              </a:spcAft>
              <a:buSzPct val="100000"/>
              <a:buFont typeface="Arial" panose="020B07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Non-EDGE handsets continue to operate on same BTS</a:t>
            </a:r>
            <a:endParaRPr lang="en-US" sz="1200" dirty="0"/>
          </a:p>
        </p:txBody>
      </p:sp>
      <p:sp>
        <p:nvSpPr>
          <p:cNvPr id="35" name="PageNum">
            <a:extLst>
              <a:ext uri="{FF2B5EF4-FFF2-40B4-BE49-F238E27FC236}">
                <a16:creationId xmlns:a16="http://schemas.microsoft.com/office/drawing/2014/main" id="{56F5C681-F84E-4937-BF77-C6B65A3AA9C0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46F578E3-396C-4ABD-8881-389A70880C98}"/>
              </a:ext>
            </a:extLst>
          </p:cNvPr>
          <p:cNvSpPr/>
          <p:nvPr/>
        </p:nvSpPr>
        <p:spPr>
          <a:xfrm>
            <a:off x="2303715" y="48817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Services &amp; Specs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Coverage in EDGE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Fundamentals · Propagation Models · Link Budget · Enhancement Techniques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1097280"/>
            <a:ext cx="1463040" cy="1463040"/>
          </a:xfrm>
          <a:prstGeom prst="ellipse">
            <a:avLst/>
          </a:prstGeom>
          <a:solidFill>
            <a:srgbClr val="0F4C81">
              <a:alpha val="30000"/>
            </a:srgbClr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914400" cy="914400"/>
          </a:xfrm>
          <a:prstGeom prst="rect">
            <a:avLst/>
          </a:prstGeom>
        </p:spPr>
      </p:pic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07424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Coverage — 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Cell Coverage?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of a wireless network to provide an acceptable received signal level to users within a geographic area.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vs GSM Coverage: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data rates → Higher SNR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services → Smaller coverage areas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data rates → Usable near cell edge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C/I &gt; 30 dB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near base station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Coverage Study</a:t>
            </a:r>
            <a:endParaRPr lang="en-US" sz="900" dirty="0"/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Factors Affecting EDGE Coverage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188720"/>
            <a:ext cx="960120" cy="96012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298448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MHz: Lower path loss, larger cells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1800/1900 MHz: Higher loss, smaller radius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850/900/1800/1900 MHz bands in EDGE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0" y="1188720"/>
            <a:ext cx="960120" cy="9601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298448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Power &amp; RX Sensitivity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10128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TX power → greater signal reach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RX sensitivity → lower signal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 services need stronger signal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40880" y="1188720"/>
            <a:ext cx="960120" cy="96012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298448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&amp; Environment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36208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Loss: decreases with distance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Fading: buildings &amp; terrain blockage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Fading: reflected signal copies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Coverage Study</a:t>
            </a:r>
            <a:endParaRPr lang="en-US" sz="900" dirty="0"/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Propagation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3716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2011680" y="1051560"/>
                <a:ext cx="65836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L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32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44 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20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log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f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) + 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20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log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d</m:t>
                      </m:r>
                      <m:r>
                        <m:rPr>
                          <m:nor/>
                        </m:rPr>
                        <a:rPr lang="en-US" sz="1200" b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34" charset="-12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0" y="1051560"/>
                <a:ext cx="6583680" cy="320040"/>
              </a:xfrm>
              <a:prstGeom prst="rect">
                <a:avLst/>
              </a:prstGeom>
              <a:blipFill>
                <a:blip r:embed="rId3"/>
                <a:stretch>
                  <a:fillRect b="-192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502920" y="144475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assuming line-of-sight. f = frequency (MHz), d = distance (km). Starting point for all coverage estimation.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64008" cy="12344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1371600" cy="2743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404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Okumura-Hata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2011680" y="2377440"/>
                <a:ext cx="65836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69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55 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26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16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𝒇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𝒄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−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13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82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𝒉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𝒃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−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𝒉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𝒎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+ [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44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9 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− 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6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55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𝒉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𝒃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)]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d</m:t>
                      </m:r>
                      <m:r>
                        <m:rPr>
                          <m:nor/>
                        </m:rPr>
                        <a:rPr lang="en-US" sz="1200" b="1" i="1" dirty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</m:t>
                      </m:r>
                    </m:oMath>
                  </m:oMathPara>
                </a14:m>
                <a:endParaRPr lang="en-US" sz="1200" b="1" i="1" dirty="0">
                  <a:solidFill>
                    <a:srgbClr val="0D2B55"/>
                  </a:solidFill>
                  <a:latin typeface="Cambria Math" panose="02040503050406030204" pitchFamily="18" charset="0"/>
                  <a:ea typeface="Consolas" pitchFamily="34" charset="-122"/>
                  <a:cs typeface="Consolas" pitchFamily="34" charset="-120"/>
                </a:endParaRPr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0" y="2377440"/>
                <a:ext cx="6583680" cy="320040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502920" y="27706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empirical model for EDGE/GSM macro-cellular outdoor planning. Accounts for BS height, mobile height, and distance.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371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730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COST-231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2011680" y="3703320"/>
                <a:ext cx="65836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𝑳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 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𝟒𝟔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𝟑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+ 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𝟑𝟑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𝟗</m:t>
                      </m:r>
                      <m:r>
                        <m:rPr>
                          <m:sty m:val="p"/>
                        </m:rP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− 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𝟏𝟑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𝟖𝟐</m:t>
                      </m:r>
                      <m:r>
                        <m:rPr>
                          <m:sty m:val="p"/>
                        </m:rP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− 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𝒂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+ [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𝟒𝟒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𝟗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− 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𝟔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𝟓𝟓</m:t>
                      </m:r>
                      <m:r>
                        <m:rPr>
                          <m:sty m:val="p"/>
                        </m:rP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)]</m:t>
                      </m:r>
                      <m:r>
                        <m:rPr>
                          <m:sty m:val="p"/>
                        </m:rP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𝒅</m:t>
                      </m:r>
                      <m:r>
                        <a:rPr lang="en-US" sz="1200" b="1" i="1" dirty="0" smtClean="0">
                          <a:solidFill>
                            <a:srgbClr val="0D2B55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+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0D2B55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0" y="3703320"/>
                <a:ext cx="6583680" cy="320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19"/>
          <p:cNvSpPr/>
          <p:nvPr/>
        </p:nvSpPr>
        <p:spPr>
          <a:xfrm>
            <a:off x="502920" y="409651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extension for 1800–1900 MHz. Adds Cm: 0 dB for medium cities, 3 dB for metro centres. Valid for dense urban 5G planning.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Coverage Study</a:t>
            </a:r>
            <a:endParaRPr lang="en-US" sz="900" dirty="0"/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Budget — The Core Planning Tool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0972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502920" y="1097280"/>
                <a:ext cx="813816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𝑴𝑨𝑷𝑳</m:t>
                      </m:r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𝒕𝒙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𝒕𝒙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𝒙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−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𝒕𝒙</m:t>
                          </m:r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_</m:t>
                          </m:r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𝒄𝒂𝒃𝒍𝒆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𝒙</m:t>
                          </m:r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_</m:t>
                          </m:r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𝒄𝒂𝒃𝒍𝒆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−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𝒓𝒙</m:t>
                          </m:r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_</m:t>
                          </m:r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𝒔𝒆𝒏𝒔𝒊𝒕𝒊𝒗𝒊𝒕𝒚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−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𝒊𝒏𝒕𝒆𝒓𝒇𝒆𝒓𝒆𝒏𝒄𝒆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F59E0B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−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F59E0B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𝒇𝒂𝒅𝒊𝒏𝒈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097280"/>
                <a:ext cx="813816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502920" y="15727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Allowed Path Loss — determines the maximum cell range for each EDGE service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12848"/>
          <a:ext cx="8503920" cy="2514603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Ptx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Transmitter output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dBm (BTS), 30 dBm (MS @ 900 MHz)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Gtx / Grx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Antenna gains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dBi sectorised BTS, 0 dBi MS (omni)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&amp; connector losses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dB at BTS 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Prx_sensitivity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acceptable received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Service-dependent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Minterference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Interference degradation margin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for co-channel frequency reuse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Mfading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fading margin (95% coverage)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7.3 dB  (σ=7 dB, γ=3.5)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Coverage Study</a:t>
            </a:r>
            <a:endParaRPr lang="en-US" sz="900" dirty="0"/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Enhancement Techniques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64008" cy="3840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0972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Sectorization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" y="2331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a cell into multiple directional sectors (typically 3 × 120°) using directional antennas.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0175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antenna gain per sector → better link budget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inter-cell interference by focusing signal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signal quality at the cell edge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005840"/>
            <a:ext cx="64008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09728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28032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B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Microcells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828032" y="2331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coverage areas (50–500 m radius) designed for dense urban environments.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30175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transmit power, very small cell radius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indoor &amp; hotspot coverage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path loss in dense areas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malls, business districts, subways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Coverage Study</a:t>
            </a:r>
            <a:endParaRPr lang="en-US" sz="900" dirty="0"/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Interference in EDGE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1097280"/>
            <a:ext cx="1463040" cy="1463040"/>
          </a:xfrm>
          <a:prstGeom prst="ellipse">
            <a:avLst/>
          </a:prstGeom>
          <a:solidFill>
            <a:srgbClr val="8B5E00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914400" cy="914400"/>
          </a:xfrm>
          <a:prstGeom prst="rect">
            <a:avLst/>
          </a:prstGeom>
        </p:spPr>
      </p:pic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5D4EFE7-3D9B-99E0-4682-C48233163902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A347EB1-6C48-0586-3D37-E863DFE1E29D}"/>
              </a:ext>
            </a:extLst>
          </p:cNvPr>
          <p:cNvSpPr/>
          <p:nvPr/>
        </p:nvSpPr>
        <p:spPr>
          <a:xfrm>
            <a:off x="3200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IN EDGE NETWORKS</a:t>
            </a:r>
            <a:endParaRPr lang="en-US" sz="22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0E36AE09-4575-7A01-D2DD-02473F396D9D}"/>
              </a:ext>
            </a:extLst>
          </p:cNvPr>
          <p:cNvSpPr/>
          <p:nvPr/>
        </p:nvSpPr>
        <p:spPr>
          <a:xfrm>
            <a:off x="2246338" y="1240929"/>
            <a:ext cx="4929777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75D83B3F-5959-EB2A-ACC4-C5577AADB4EB}"/>
              </a:ext>
            </a:extLst>
          </p:cNvPr>
          <p:cNvSpPr/>
          <p:nvPr/>
        </p:nvSpPr>
        <p:spPr>
          <a:xfrm>
            <a:off x="2246339" y="1240929"/>
            <a:ext cx="64008" cy="107899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DBBF6B-2830-7977-D536-8AFA6BA0ED6A}"/>
              </a:ext>
            </a:extLst>
          </p:cNvPr>
          <p:cNvGrpSpPr/>
          <p:nvPr/>
        </p:nvGrpSpPr>
        <p:grpSpPr>
          <a:xfrm>
            <a:off x="4382624" y="1281118"/>
            <a:ext cx="347472" cy="360008"/>
            <a:chOff x="7271323" y="1475133"/>
            <a:chExt cx="347472" cy="360008"/>
          </a:xfrm>
        </p:grpSpPr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5AA05F00-E64B-634C-B04B-2D495B3BE660}"/>
                </a:ext>
              </a:extLst>
            </p:cNvPr>
            <p:cNvSpPr/>
            <p:nvPr/>
          </p:nvSpPr>
          <p:spPr>
            <a:xfrm>
              <a:off x="7271323" y="1487669"/>
              <a:ext cx="347472" cy="347472"/>
            </a:xfrm>
            <a:prstGeom prst="ellipse">
              <a:avLst/>
            </a:prstGeom>
            <a:solidFill>
              <a:srgbClr val="003366"/>
            </a:solidFill>
            <a:ln w="12700">
              <a:solidFill>
                <a:srgbClr val="003366"/>
              </a:solidFill>
              <a:prstDash val="soli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8" name="Text 10">
              <a:extLst>
                <a:ext uri="{FF2B5EF4-FFF2-40B4-BE49-F238E27FC236}">
                  <a16:creationId xmlns:a16="http://schemas.microsoft.com/office/drawing/2014/main" id="{57208CFA-204E-641B-61B2-4790070A245A}"/>
                </a:ext>
              </a:extLst>
            </p:cNvPr>
            <p:cNvSpPr/>
            <p:nvPr/>
          </p:nvSpPr>
          <p:spPr>
            <a:xfrm>
              <a:off x="7271323" y="1475133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100" dirty="0"/>
            </a:p>
          </p:txBody>
        </p:sp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3C7AA3D3-43B3-9A37-0CC3-45A20D3FE247}"/>
              </a:ext>
            </a:extLst>
          </p:cNvPr>
          <p:cNvSpPr/>
          <p:nvPr/>
        </p:nvSpPr>
        <p:spPr>
          <a:xfrm>
            <a:off x="3280053" y="1698490"/>
            <a:ext cx="2541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Co-Channel Interference (CCI)</a:t>
            </a:r>
            <a:endParaRPr lang="en-US" sz="105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BAD247E5-C3EB-2FD9-82AC-7C0B3F217EB9}"/>
              </a:ext>
            </a:extLst>
          </p:cNvPr>
          <p:cNvSpPr/>
          <p:nvPr/>
        </p:nvSpPr>
        <p:spPr>
          <a:xfrm>
            <a:off x="2401787" y="1926729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/>
              <a:t>Signals received from other cells using the </a:t>
            </a:r>
            <a:r>
              <a:rPr lang="en-US" sz="1000" b="1" dirty="0"/>
              <a:t>same frequency</a:t>
            </a:r>
            <a:r>
              <a:rPr lang="en-US" sz="1000" dirty="0"/>
              <a:t> (Due to frequency reuse).</a:t>
            </a:r>
            <a:endParaRPr lang="en-US" sz="95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3FE18523-7891-1E6A-3BAA-5C00EF8C395A}"/>
              </a:ext>
            </a:extLst>
          </p:cNvPr>
          <p:cNvSpPr/>
          <p:nvPr/>
        </p:nvSpPr>
        <p:spPr>
          <a:xfrm>
            <a:off x="2246338" y="2393073"/>
            <a:ext cx="4929777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56F7DE40-28D7-520F-7E97-278E05E70B44}"/>
              </a:ext>
            </a:extLst>
          </p:cNvPr>
          <p:cNvSpPr/>
          <p:nvPr/>
        </p:nvSpPr>
        <p:spPr>
          <a:xfrm>
            <a:off x="2246339" y="2393073"/>
            <a:ext cx="64008" cy="107899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5CB7EC-8FFD-C007-D58A-9B012FC9BB90}"/>
              </a:ext>
            </a:extLst>
          </p:cNvPr>
          <p:cNvGrpSpPr/>
          <p:nvPr/>
        </p:nvGrpSpPr>
        <p:grpSpPr>
          <a:xfrm>
            <a:off x="4376891" y="2462973"/>
            <a:ext cx="347472" cy="359864"/>
            <a:chOff x="6665809" y="2413423"/>
            <a:chExt cx="347472" cy="359864"/>
          </a:xfrm>
        </p:grpSpPr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BEFC242E-E47C-0E9A-218D-8D63E1E19DF4}"/>
                </a:ext>
              </a:extLst>
            </p:cNvPr>
            <p:cNvSpPr/>
            <p:nvPr/>
          </p:nvSpPr>
          <p:spPr>
            <a:xfrm>
              <a:off x="6665809" y="2425815"/>
              <a:ext cx="347472" cy="347472"/>
            </a:xfrm>
            <a:prstGeom prst="ellipse">
              <a:avLst/>
            </a:prstGeom>
            <a:solidFill>
              <a:srgbClr val="003366"/>
            </a:solidFill>
            <a:ln w="12700">
              <a:solidFill>
                <a:srgbClr val="003366"/>
              </a:solidFill>
              <a:prstDash val="soli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11F27A89-2DA5-616F-8E3C-DCD6B3888058}"/>
                </a:ext>
              </a:extLst>
            </p:cNvPr>
            <p:cNvSpPr/>
            <p:nvPr/>
          </p:nvSpPr>
          <p:spPr>
            <a:xfrm>
              <a:off x="6665809" y="2413423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100" dirty="0"/>
            </a:p>
          </p:txBody>
        </p:sp>
      </p:grpSp>
      <p:sp>
        <p:nvSpPr>
          <p:cNvPr id="16" name="Text 17">
            <a:extLst>
              <a:ext uri="{FF2B5EF4-FFF2-40B4-BE49-F238E27FC236}">
                <a16:creationId xmlns:a16="http://schemas.microsoft.com/office/drawing/2014/main" id="{B18B61E4-9B98-F266-5BC3-62CF4AFC3CFB}"/>
              </a:ext>
            </a:extLst>
          </p:cNvPr>
          <p:cNvSpPr/>
          <p:nvPr/>
        </p:nvSpPr>
        <p:spPr>
          <a:xfrm>
            <a:off x="3478407" y="2846265"/>
            <a:ext cx="2187186" cy="27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Channel Interference (ACI)</a:t>
            </a:r>
            <a:endParaRPr lang="en-US" sz="105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85A33DB8-AD86-11FA-14BA-438C37F344CC}"/>
              </a:ext>
            </a:extLst>
          </p:cNvPr>
          <p:cNvSpPr/>
          <p:nvPr/>
        </p:nvSpPr>
        <p:spPr>
          <a:xfrm>
            <a:off x="2385565" y="3072973"/>
            <a:ext cx="4752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/>
              <a:t>Power leakage from </a:t>
            </a:r>
            <a:r>
              <a:rPr lang="en-US" sz="1000" b="1" dirty="0"/>
              <a:t>nearby frequency bands</a:t>
            </a:r>
            <a:r>
              <a:rPr lang="en-US" sz="1000" dirty="0"/>
              <a:t> (Due to imperfect filtering or amplifier</a:t>
            </a:r>
            <a:r>
              <a:rPr lang="ar-EG" sz="1000" dirty="0"/>
              <a:t>(</a:t>
            </a:r>
            <a:r>
              <a:rPr lang="en-US" sz="1000" dirty="0"/>
              <a:t> </a:t>
            </a: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5C5B4DC3-E02F-1A1D-4C7A-91C6DDB3A18B}"/>
              </a:ext>
            </a:extLst>
          </p:cNvPr>
          <p:cNvSpPr/>
          <p:nvPr/>
        </p:nvSpPr>
        <p:spPr>
          <a:xfrm>
            <a:off x="2284076" y="3545217"/>
            <a:ext cx="4892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824C06A4-C58F-2D84-DF04-981316CA7DA9}"/>
              </a:ext>
            </a:extLst>
          </p:cNvPr>
          <p:cNvSpPr/>
          <p:nvPr/>
        </p:nvSpPr>
        <p:spPr>
          <a:xfrm>
            <a:off x="2246339" y="3545217"/>
            <a:ext cx="64008" cy="107899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920906F-54A2-E577-C18A-D1E8B2176406}"/>
              </a:ext>
            </a:extLst>
          </p:cNvPr>
          <p:cNvGrpSpPr/>
          <p:nvPr/>
        </p:nvGrpSpPr>
        <p:grpSpPr>
          <a:xfrm>
            <a:off x="4382624" y="3603916"/>
            <a:ext cx="347472" cy="347472"/>
            <a:chOff x="6961293" y="3413956"/>
            <a:chExt cx="347472" cy="347472"/>
          </a:xfrm>
        </p:grpSpPr>
        <p:sp>
          <p:nvSpPr>
            <p:cNvPr id="21" name="Shape 21">
              <a:extLst>
                <a:ext uri="{FF2B5EF4-FFF2-40B4-BE49-F238E27FC236}">
                  <a16:creationId xmlns:a16="http://schemas.microsoft.com/office/drawing/2014/main" id="{C4040F4D-7B17-8B27-4FA8-F154EAA46B35}"/>
                </a:ext>
              </a:extLst>
            </p:cNvPr>
            <p:cNvSpPr/>
            <p:nvPr/>
          </p:nvSpPr>
          <p:spPr>
            <a:xfrm>
              <a:off x="6961293" y="3413956"/>
              <a:ext cx="347472" cy="347472"/>
            </a:xfrm>
            <a:prstGeom prst="ellipse">
              <a:avLst/>
            </a:prstGeom>
            <a:solidFill>
              <a:srgbClr val="003366"/>
            </a:solidFill>
            <a:ln w="12700">
              <a:solidFill>
                <a:srgbClr val="003366"/>
              </a:solidFill>
              <a:prstDash val="solid"/>
            </a:ln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22" name="Text 22">
              <a:extLst>
                <a:ext uri="{FF2B5EF4-FFF2-40B4-BE49-F238E27FC236}">
                  <a16:creationId xmlns:a16="http://schemas.microsoft.com/office/drawing/2014/main" id="{AF3305D0-44CB-43DA-FDD8-DBC4DC0E38A3}"/>
                </a:ext>
              </a:extLst>
            </p:cNvPr>
            <p:cNvSpPr/>
            <p:nvPr/>
          </p:nvSpPr>
          <p:spPr>
            <a:xfrm>
              <a:off x="6961293" y="341395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100" dirty="0"/>
            </a:p>
          </p:txBody>
        </p:sp>
      </p:grpSp>
      <p:sp>
        <p:nvSpPr>
          <p:cNvPr id="23" name="Text 23">
            <a:extLst>
              <a:ext uri="{FF2B5EF4-FFF2-40B4-BE49-F238E27FC236}">
                <a16:creationId xmlns:a16="http://schemas.microsoft.com/office/drawing/2014/main" id="{A5FB6DFA-BDA6-4F5B-D894-4921B961EBAA}"/>
              </a:ext>
            </a:extLst>
          </p:cNvPr>
          <p:cNvSpPr/>
          <p:nvPr/>
        </p:nvSpPr>
        <p:spPr>
          <a:xfrm>
            <a:off x="3697347" y="3971444"/>
            <a:ext cx="1749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Intersymbol Interference (ISI)</a:t>
            </a:r>
            <a:endParaRPr lang="en-US" sz="1050" dirty="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02B3FDD9-0085-696D-709C-B5EE2CBA24FA}"/>
              </a:ext>
            </a:extLst>
          </p:cNvPr>
          <p:cNvSpPr/>
          <p:nvPr/>
        </p:nvSpPr>
        <p:spPr>
          <a:xfrm>
            <a:off x="2385565" y="4233376"/>
            <a:ext cx="4752814" cy="359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/>
              <a:t>Consecutive symbols smearing together (Caused by delayed reflections / </a:t>
            </a:r>
            <a:r>
              <a:rPr lang="en-US" sz="1000" b="1" dirty="0"/>
              <a:t>Multipath fading</a:t>
            </a:r>
            <a:r>
              <a:rPr lang="en-US" sz="1000" dirty="0"/>
              <a:t>).</a:t>
            </a:r>
            <a:endParaRPr lang="en-US" sz="950" dirty="0"/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76885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93B572F-62F1-2E1C-0A88-42B96210E3D7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DA5B43D-6C8E-3B16-C7AC-12D44FCA97C1}"/>
              </a:ext>
            </a:extLst>
          </p:cNvPr>
          <p:cNvSpPr/>
          <p:nvPr/>
        </p:nvSpPr>
        <p:spPr>
          <a:xfrm>
            <a:off x="3200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IN EDGE NETWORKS</a:t>
            </a:r>
            <a:endParaRPr lang="en-US" sz="22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C35F71E-F0F9-7E4C-6DB1-EC6C16E9765C}"/>
              </a:ext>
            </a:extLst>
          </p:cNvPr>
          <p:cNvSpPr/>
          <p:nvPr/>
        </p:nvSpPr>
        <p:spPr>
          <a:xfrm>
            <a:off x="2746149" y="1426464"/>
            <a:ext cx="4114800" cy="804672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5EAC4DF-59C3-0E55-1B4D-37CB4419136A}"/>
              </a:ext>
            </a:extLst>
          </p:cNvPr>
          <p:cNvSpPr/>
          <p:nvPr/>
        </p:nvSpPr>
        <p:spPr>
          <a:xfrm>
            <a:off x="2746149" y="1426464"/>
            <a:ext cx="54864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EE0BCF46-1471-DDF0-936A-B1D46832EB1A}"/>
              </a:ext>
            </a:extLst>
          </p:cNvPr>
          <p:cNvSpPr/>
          <p:nvPr/>
        </p:nvSpPr>
        <p:spPr>
          <a:xfrm>
            <a:off x="2883309" y="1481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 Hopping (FH)</a:t>
            </a:r>
            <a:endParaRPr lang="en-US" sz="1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A1762C9C-640F-CEEC-CF56-0077F276591C}"/>
              </a:ext>
            </a:extLst>
          </p:cNvPr>
          <p:cNvSpPr/>
          <p:nvPr/>
        </p:nvSpPr>
        <p:spPr>
          <a:xfrm>
            <a:off x="2883309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/>
              <a:t>Averages CCI statistically by rapid frequency changing</a:t>
            </a: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5AD66874-9C1C-235C-D15F-820599471FDD}"/>
              </a:ext>
            </a:extLst>
          </p:cNvPr>
          <p:cNvSpPr/>
          <p:nvPr/>
        </p:nvSpPr>
        <p:spPr>
          <a:xfrm>
            <a:off x="2746149" y="2286000"/>
            <a:ext cx="4114800" cy="804672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1E49AEFA-6AF0-A3E9-26ED-B3A6ABFF7FA7}"/>
              </a:ext>
            </a:extLst>
          </p:cNvPr>
          <p:cNvSpPr/>
          <p:nvPr/>
        </p:nvSpPr>
        <p:spPr>
          <a:xfrm>
            <a:off x="2746149" y="2286000"/>
            <a:ext cx="54864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09F42EB-0E57-1947-3FE7-A7BE7AFB9181}"/>
              </a:ext>
            </a:extLst>
          </p:cNvPr>
          <p:cNvSpPr/>
          <p:nvPr/>
        </p:nvSpPr>
        <p:spPr>
          <a:xfrm>
            <a:off x="2883309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SAIC / DARP</a:t>
            </a:r>
            <a:endParaRPr lang="en-US" sz="10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6CB5AE41-61C1-3757-7514-36D5C3FD766B}"/>
              </a:ext>
            </a:extLst>
          </p:cNvPr>
          <p:cNvSpPr/>
          <p:nvPr/>
        </p:nvSpPr>
        <p:spPr>
          <a:xfrm>
            <a:off x="2883309" y="2596896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Antenna Interference Cancellation via Joint Detection (TSC-based) or Blind Interference Cancellation (BIC) to suppress dominant interferers.</a:t>
            </a:r>
            <a:endParaRPr lang="en-US" sz="9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9F14007-8666-B18B-1600-73A5DBAC0E9C}"/>
              </a:ext>
            </a:extLst>
          </p:cNvPr>
          <p:cNvSpPr/>
          <p:nvPr/>
        </p:nvSpPr>
        <p:spPr>
          <a:xfrm>
            <a:off x="2746149" y="3145536"/>
            <a:ext cx="4114800" cy="804672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6D516941-E591-6FB3-A13D-1AEB74FC4D85}"/>
              </a:ext>
            </a:extLst>
          </p:cNvPr>
          <p:cNvSpPr/>
          <p:nvPr/>
        </p:nvSpPr>
        <p:spPr>
          <a:xfrm>
            <a:off x="2746149" y="3145536"/>
            <a:ext cx="54864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9BBBDE66-9E58-A81F-65E4-EBE8C498E5D1}"/>
              </a:ext>
            </a:extLst>
          </p:cNvPr>
          <p:cNvSpPr/>
          <p:nvPr/>
        </p:nvSpPr>
        <p:spPr>
          <a:xfrm>
            <a:off x="2883309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MLSE Equalizer</a:t>
            </a:r>
            <a:endParaRPr lang="en-US" sz="10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5D74280F-1B0B-24DD-ABC6-30C0D5BB8272}"/>
              </a:ext>
            </a:extLst>
          </p:cNvPr>
          <p:cNvSpPr/>
          <p:nvPr/>
        </p:nvSpPr>
        <p:spPr>
          <a:xfrm>
            <a:off x="2883309" y="3456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/>
              <a:t>Combats ISI using Viterbi algorithm &amp; 26-bit training sequence</a:t>
            </a: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61846210-C3C9-1394-D463-8DE3FF1826C9}"/>
              </a:ext>
            </a:extLst>
          </p:cNvPr>
          <p:cNvSpPr/>
          <p:nvPr/>
        </p:nvSpPr>
        <p:spPr>
          <a:xfrm>
            <a:off x="2746149" y="4005072"/>
            <a:ext cx="4114800" cy="804672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A71041C7-24C2-EAC9-1D8D-EBAA2C0E9585}"/>
              </a:ext>
            </a:extLst>
          </p:cNvPr>
          <p:cNvSpPr/>
          <p:nvPr/>
        </p:nvSpPr>
        <p:spPr>
          <a:xfrm>
            <a:off x="2746149" y="4005072"/>
            <a:ext cx="54864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8D292158-D80E-00F4-8349-81551FCF72EF}"/>
              </a:ext>
            </a:extLst>
          </p:cNvPr>
          <p:cNvSpPr/>
          <p:nvPr/>
        </p:nvSpPr>
        <p:spPr>
          <a:xfrm>
            <a:off x="2883309" y="40599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Adaptation + IR</a:t>
            </a:r>
            <a:endParaRPr lang="en-US" sz="100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7ADCB9E2-9EC0-5D08-557B-147A55CCAA5B}"/>
              </a:ext>
            </a:extLst>
          </p:cNvPr>
          <p:cNvSpPr/>
          <p:nvPr/>
        </p:nvSpPr>
        <p:spPr>
          <a:xfrm>
            <a:off x="2883309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/>
              <a:t>Downgrades MCS under poor C/I &amp; soft-combines retransmissions.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23739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891B2"/>
                </a:solidFill>
                <a:latin typeface="Calibri" pitchFamily="34" charset="0"/>
              </a:rPr>
              <a:t>SECTION 5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</a:rPr>
              <a:t>Radio / Air Interface</a:t>
            </a:r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D4"/>
                </a:solidFill>
                <a:latin typeface="Calibri" pitchFamily="34" charset="0"/>
              </a:rPr>
              <a:t>GERAN Architecture &amp; Interfaces · Um Physical Layer · Modulation · MCS &amp; Link Adaptation · Incremental Redundancy · Channel Structure</a:t>
            </a:r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"/>
          <p:cNvSpPr/>
          <p:nvPr/>
        </p:nvSpPr>
        <p:spPr>
          <a:xfrm>
            <a:off x="365760" y="109728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Overview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1224033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D4"/>
                </a:solidFill>
                <a:latin typeface="Calibri" pitchFamily="34" charset="0"/>
              </a:rPr>
              <a:t>Enhancement of the GSM/GPRS air interface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684038"/>
            <a:ext cx="2200000" cy="8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548640" y="1684038"/>
            <a:ext cx="22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365C"/>
                </a:solidFill>
                <a:latin typeface="Calibri" pitchFamily="34" charset="0"/>
              </a:rPr>
              <a:t>115 kbps</a:t>
            </a:r>
          </a:p>
        </p:txBody>
      </p:sp>
      <p:sp>
        <p:nvSpPr>
          <p:cNvPr id="22" name="Text 22"/>
          <p:cNvSpPr/>
          <p:nvPr/>
        </p:nvSpPr>
        <p:spPr>
          <a:xfrm>
            <a:off x="548640" y="2104038"/>
            <a:ext cx="22000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</a:rPr>
              <a:t>GPRS peak</a:t>
            </a:r>
          </a:p>
        </p:txBody>
      </p:sp>
      <p:sp>
        <p:nvSpPr>
          <p:cNvPr id="23" name="Text 23"/>
          <p:cNvSpPr/>
          <p:nvPr/>
        </p:nvSpPr>
        <p:spPr>
          <a:xfrm>
            <a:off x="2800000" y="1784038"/>
            <a:ext cx="7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C25B3F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24" name="Shape 24"/>
          <p:cNvSpPr/>
          <p:nvPr/>
        </p:nvSpPr>
        <p:spPr>
          <a:xfrm>
            <a:off x="3600000" y="1684038"/>
            <a:ext cx="2200000" cy="800000"/>
          </a:xfrm>
          <a:prstGeom prst="rect">
            <a:avLst/>
          </a:prstGeom>
          <a:solidFill>
            <a:srgbClr val="FAECE7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3600000" y="1684038"/>
            <a:ext cx="22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25B3F"/>
                </a:solidFill>
                <a:latin typeface="Calibri" pitchFamily="34" charset="0"/>
              </a:rPr>
              <a:t>384 kbps</a:t>
            </a:r>
          </a:p>
        </p:txBody>
      </p:sp>
      <p:sp>
        <p:nvSpPr>
          <p:cNvPr id="26" name="Text 26"/>
          <p:cNvSpPr/>
          <p:nvPr/>
        </p:nvSpPr>
        <p:spPr>
          <a:xfrm>
            <a:off x="3600000" y="2104038"/>
            <a:ext cx="22000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</a:rPr>
              <a:t>EDGE peak</a:t>
            </a:r>
          </a:p>
        </p:txBody>
      </p:sp>
      <p:sp>
        <p:nvSpPr>
          <p:cNvPr id="30" name="Text 30"/>
          <p:cNvSpPr/>
          <p:nvPr/>
        </p:nvSpPr>
        <p:spPr>
          <a:xfrm>
            <a:off x="548640" y="2689098"/>
            <a:ext cx="780000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</a:rPr>
              <a:t>EDGE is a Release-99 enhancement to GSM/GPRS that triples the per-timeslot data rate through changes confined to the Um (air) interface. The core network, BSS hardware, frequency plan, and channel architecture remain unchanged.</a:t>
            </a:r>
          </a:p>
        </p:txBody>
      </p:sp>
      <p:sp>
        <p:nvSpPr>
          <p:cNvPr id="31" name="Text 31"/>
          <p:cNvSpPr/>
          <p:nvPr/>
        </p:nvSpPr>
        <p:spPr>
          <a:xfrm>
            <a:off x="548640" y="3640244"/>
            <a:ext cx="78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</a:rPr>
              <a:t>Classified as a 2.75G technology; standardised by 3GPP in TS 45.003 and TS 43.064.</a:t>
            </a:r>
          </a:p>
        </p:txBody>
      </p:sp>
      <p:sp>
        <p:nvSpPr>
          <p:cNvPr id="299" name="Text 29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Radio / Air Interface · 1 · Overview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"/>
          <p:cNvSpPr/>
          <p:nvPr/>
        </p:nvSpPr>
        <p:spPr>
          <a:xfrm>
            <a:off x="373134" y="108726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GERAN Architecture &amp; Interfaces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1280744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D4"/>
                </a:solidFill>
                <a:latin typeface="Calibri" pitchFamily="34" charset="0"/>
              </a:rPr>
              <a:t>Only one link is modified by EDGE — the wireless one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840744"/>
            <a:ext cx="900000" cy="5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548640" y="1840744"/>
            <a:ext cx="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</a:rPr>
              <a:t>MS</a:t>
            </a:r>
          </a:p>
        </p:txBody>
      </p:sp>
      <p:sp>
        <p:nvSpPr>
          <p:cNvPr id="22" name="Text 22"/>
          <p:cNvSpPr/>
          <p:nvPr/>
        </p:nvSpPr>
        <p:spPr>
          <a:xfrm>
            <a:off x="1480000" y="1851511"/>
            <a:ext cx="6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25B3F"/>
                </a:solidFill>
                <a:latin typeface="Calibri" pitchFamily="34" charset="0"/>
              </a:rPr>
              <a:t>Um</a:t>
            </a:r>
          </a:p>
        </p:txBody>
      </p:sp>
      <p:sp>
        <p:nvSpPr>
          <p:cNvPr id="221" name="Text 221"/>
          <p:cNvSpPr/>
          <p:nvPr/>
        </p:nvSpPr>
        <p:spPr>
          <a:xfrm>
            <a:off x="1398640" y="2130744"/>
            <a:ext cx="90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25B3F"/>
                </a:solidFill>
                <a:latin typeface="Calibri" pitchFamily="34" charset="0"/>
              </a:rPr>
              <a:t>(air interface)</a:t>
            </a:r>
          </a:p>
        </p:txBody>
      </p:sp>
      <p:sp>
        <p:nvSpPr>
          <p:cNvPr id="222" name="Shape 222"/>
          <p:cNvSpPr/>
          <p:nvPr/>
        </p:nvSpPr>
        <p:spPr>
          <a:xfrm>
            <a:off x="1440000" y="2060744"/>
            <a:ext cx="700000" cy="30000"/>
          </a:xfrm>
          <a:prstGeom prst="rect">
            <a:avLst/>
          </a:prstGeom>
          <a:solidFill>
            <a:srgbClr val="C25B3F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2200000" y="1840744"/>
            <a:ext cx="900000" cy="5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/>
          <p:nvPr/>
        </p:nvSpPr>
        <p:spPr>
          <a:xfrm>
            <a:off x="2200000" y="1840744"/>
            <a:ext cx="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</a:rPr>
              <a:t>BTS</a:t>
            </a:r>
          </a:p>
        </p:txBody>
      </p:sp>
      <p:sp>
        <p:nvSpPr>
          <p:cNvPr id="25" name="Shape 25"/>
          <p:cNvSpPr/>
          <p:nvPr/>
        </p:nvSpPr>
        <p:spPr>
          <a:xfrm>
            <a:off x="3150000" y="2060744"/>
            <a:ext cx="700000" cy="300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/>
          <p:nvPr/>
        </p:nvSpPr>
        <p:spPr>
          <a:xfrm>
            <a:off x="3163793" y="1879864"/>
            <a:ext cx="8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Abis</a:t>
            </a:r>
          </a:p>
        </p:txBody>
      </p:sp>
      <p:sp>
        <p:nvSpPr>
          <p:cNvPr id="27" name="Shape 27"/>
          <p:cNvSpPr/>
          <p:nvPr/>
        </p:nvSpPr>
        <p:spPr>
          <a:xfrm>
            <a:off x="3900000" y="1790744"/>
            <a:ext cx="1100000" cy="60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/>
          <p:nvPr/>
        </p:nvSpPr>
        <p:spPr>
          <a:xfrm>
            <a:off x="3900000" y="1790744"/>
            <a:ext cx="11000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</a:rPr>
              <a:t>BSC + PCU</a:t>
            </a:r>
          </a:p>
        </p:txBody>
      </p:sp>
      <p:sp>
        <p:nvSpPr>
          <p:cNvPr id="29" name="Shape 29"/>
          <p:cNvSpPr/>
          <p:nvPr/>
        </p:nvSpPr>
        <p:spPr>
          <a:xfrm rot="20539599">
            <a:off x="4988035" y="1864864"/>
            <a:ext cx="700000" cy="300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0"/>
          <p:cNvSpPr/>
          <p:nvPr/>
        </p:nvSpPr>
        <p:spPr>
          <a:xfrm>
            <a:off x="5173195" y="1668150"/>
            <a:ext cx="9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31" name="Shape 31"/>
          <p:cNvSpPr/>
          <p:nvPr/>
        </p:nvSpPr>
        <p:spPr>
          <a:xfrm>
            <a:off x="5705463" y="1449897"/>
            <a:ext cx="1000000" cy="50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2"/>
          <p:cNvSpPr/>
          <p:nvPr/>
        </p:nvSpPr>
        <p:spPr>
          <a:xfrm>
            <a:off x="5870000" y="1420744"/>
            <a:ext cx="10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</a:rPr>
              <a:t>MSC</a:t>
            </a:r>
          </a:p>
        </p:txBody>
      </p:sp>
      <p:sp>
        <p:nvSpPr>
          <p:cNvPr id="33" name="Shape 33"/>
          <p:cNvSpPr/>
          <p:nvPr/>
        </p:nvSpPr>
        <p:spPr>
          <a:xfrm>
            <a:off x="5729094" y="2120706"/>
            <a:ext cx="1000000" cy="50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/>
          <p:nvPr/>
        </p:nvSpPr>
        <p:spPr>
          <a:xfrm>
            <a:off x="5883880" y="2107500"/>
            <a:ext cx="10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</a:rPr>
              <a:t>SGSN</a:t>
            </a:r>
          </a:p>
        </p:txBody>
      </p:sp>
      <p:sp>
        <p:nvSpPr>
          <p:cNvPr id="35" name="Shape 35"/>
          <p:cNvSpPr/>
          <p:nvPr/>
        </p:nvSpPr>
        <p:spPr>
          <a:xfrm>
            <a:off x="7083287" y="2107500"/>
            <a:ext cx="1000000" cy="50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/>
          <p:cNvSpPr/>
          <p:nvPr/>
        </p:nvSpPr>
        <p:spPr>
          <a:xfrm>
            <a:off x="7229600" y="2092338"/>
            <a:ext cx="10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</a:rPr>
              <a:t>GGSN</a:t>
            </a:r>
          </a:p>
        </p:txBody>
      </p:sp>
      <p:sp>
        <p:nvSpPr>
          <p:cNvPr id="37" name="Shape 37"/>
          <p:cNvSpPr/>
          <p:nvPr/>
        </p:nvSpPr>
        <p:spPr>
          <a:xfrm flipV="1">
            <a:off x="6736223" y="2303787"/>
            <a:ext cx="355321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0"/>
          <p:cNvSpPr/>
          <p:nvPr/>
        </p:nvSpPr>
        <p:spPr>
          <a:xfrm>
            <a:off x="548640" y="3510744"/>
            <a:ext cx="800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</a:rPr>
              <a:t>EDGE changes only the radio waveform on Um. Every cable, every protocol, every core-network box behind the BTS stays exactly the same.</a:t>
            </a:r>
          </a:p>
        </p:txBody>
      </p:sp>
      <p:sp>
        <p:nvSpPr>
          <p:cNvPr id="50" name="Shape 50"/>
          <p:cNvSpPr/>
          <p:nvPr/>
        </p:nvSpPr>
        <p:spPr>
          <a:xfrm>
            <a:off x="678640" y="3025988"/>
            <a:ext cx="300000" cy="25000"/>
          </a:xfrm>
          <a:prstGeom prst="rect">
            <a:avLst/>
          </a:prstGeom>
          <a:solidFill>
            <a:srgbClr val="C25B3F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51"/>
          <p:cNvSpPr/>
          <p:nvPr/>
        </p:nvSpPr>
        <p:spPr>
          <a:xfrm>
            <a:off x="1000000" y="2995988"/>
            <a:ext cx="25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25B3F"/>
                </a:solidFill>
                <a:latin typeface="Calibri" pitchFamily="34" charset="0"/>
              </a:rPr>
              <a:t>Modified by EDGE</a:t>
            </a:r>
          </a:p>
        </p:txBody>
      </p:sp>
      <p:sp>
        <p:nvSpPr>
          <p:cNvPr id="52" name="Shape 52"/>
          <p:cNvSpPr/>
          <p:nvPr/>
        </p:nvSpPr>
        <p:spPr>
          <a:xfrm>
            <a:off x="3630000" y="3025988"/>
            <a:ext cx="300000" cy="250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3"/>
          <p:cNvSpPr/>
          <p:nvPr/>
        </p:nvSpPr>
        <p:spPr>
          <a:xfrm>
            <a:off x="3950000" y="2995988"/>
            <a:ext cx="30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</a:rPr>
              <a:t>Unchanged from GSM/GPRS</a:t>
            </a:r>
          </a:p>
        </p:txBody>
      </p:sp>
      <p:sp>
        <p:nvSpPr>
          <p:cNvPr id="299" name="Text 29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Radio / Air Interface · 2 · Architecture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23</a:t>
            </a:r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B5DC0017-DCDF-44B0-8113-A7F867291B94}"/>
              </a:ext>
            </a:extLst>
          </p:cNvPr>
          <p:cNvSpPr/>
          <p:nvPr/>
        </p:nvSpPr>
        <p:spPr>
          <a:xfrm rot="896775">
            <a:off x="5007036" y="2280982"/>
            <a:ext cx="700000" cy="300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ADC6C44F-C0B1-4AFD-BEC8-ECE316E3D24D}"/>
              </a:ext>
            </a:extLst>
          </p:cNvPr>
          <p:cNvSpPr/>
          <p:nvPr/>
        </p:nvSpPr>
        <p:spPr>
          <a:xfrm>
            <a:off x="7091544" y="1447188"/>
            <a:ext cx="1000000" cy="50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47BF4496-E7E0-4CB7-872F-D4A75DACBB00}"/>
              </a:ext>
            </a:extLst>
          </p:cNvPr>
          <p:cNvSpPr/>
          <p:nvPr/>
        </p:nvSpPr>
        <p:spPr>
          <a:xfrm>
            <a:off x="7229600" y="1441724"/>
            <a:ext cx="10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888888"/>
                </a:solidFill>
                <a:latin typeface="Calibri" pitchFamily="34" charset="0"/>
              </a:rPr>
              <a:t>PSTN</a:t>
            </a:r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0CE07B7B-7060-4B21-8590-E3D0B68ECA33}"/>
              </a:ext>
            </a:extLst>
          </p:cNvPr>
          <p:cNvSpPr/>
          <p:nvPr/>
        </p:nvSpPr>
        <p:spPr>
          <a:xfrm flipV="1">
            <a:off x="6720843" y="1691724"/>
            <a:ext cx="355321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89124E08-1C91-4650-9748-EC7749731F1A}"/>
              </a:ext>
            </a:extLst>
          </p:cNvPr>
          <p:cNvSpPr/>
          <p:nvPr/>
        </p:nvSpPr>
        <p:spPr>
          <a:xfrm rot="1036371">
            <a:off x="5147629" y="2142724"/>
            <a:ext cx="9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Gb</a:t>
            </a:r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75457FCD-CE64-4873-B1A5-88044983476A}"/>
              </a:ext>
            </a:extLst>
          </p:cNvPr>
          <p:cNvSpPr/>
          <p:nvPr/>
        </p:nvSpPr>
        <p:spPr>
          <a:xfrm>
            <a:off x="5779094" y="1232999"/>
            <a:ext cx="9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Voice core (CS)</a:t>
            </a:r>
          </a:p>
        </p:txBody>
      </p:sp>
      <p:sp>
        <p:nvSpPr>
          <p:cNvPr id="46" name="Text 30">
            <a:extLst>
              <a:ext uri="{FF2B5EF4-FFF2-40B4-BE49-F238E27FC236}">
                <a16:creationId xmlns:a16="http://schemas.microsoft.com/office/drawing/2014/main" id="{2A757AB0-FAD1-4E6B-8B64-79D6749D7AAD}"/>
              </a:ext>
            </a:extLst>
          </p:cNvPr>
          <p:cNvSpPr/>
          <p:nvPr/>
        </p:nvSpPr>
        <p:spPr>
          <a:xfrm>
            <a:off x="6241077" y="2625800"/>
            <a:ext cx="1488523" cy="294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Data core (PS) → Internet</a:t>
            </a:r>
          </a:p>
          <a:p>
            <a:endParaRPr lang="en-US" sz="900" dirty="0">
              <a:solidFill>
                <a:srgbClr val="888888"/>
              </a:solidFill>
              <a:latin typeface="Calibri" pitchFamily="34" charset="0"/>
            </a:endParaRPr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D1DCBD68-DB03-4AC8-985D-D03025A2E053}"/>
              </a:ext>
            </a:extLst>
          </p:cNvPr>
          <p:cNvSpPr/>
          <p:nvPr/>
        </p:nvSpPr>
        <p:spPr>
          <a:xfrm>
            <a:off x="6731950" y="2155545"/>
            <a:ext cx="921760" cy="158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88888"/>
                </a:solidFill>
                <a:latin typeface="Calibri" pitchFamily="34" charset="0"/>
              </a:rPr>
              <a:t>Gn</a:t>
            </a:r>
            <a:endParaRPr lang="en-US" sz="900" dirty="0">
              <a:solidFill>
                <a:srgbClr val="888888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"/>
          <p:cNvSpPr/>
          <p:nvPr/>
        </p:nvSpPr>
        <p:spPr>
          <a:xfrm>
            <a:off x="365760" y="109728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The Um Skeleton — Inherited from GSM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1169250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D4"/>
                </a:solidFill>
                <a:latin typeface="Calibri" pitchFamily="34" charset="0"/>
              </a:rPr>
              <a:t>200 kHz carriers, 8 timeslots per TDMA frame, 156.25 symbols per burst</a:t>
            </a:r>
          </a:p>
        </p:txBody>
      </p:sp>
      <p:sp>
        <p:nvSpPr>
          <p:cNvPr id="12" name="Text 12"/>
          <p:cNvSpPr/>
          <p:nvPr/>
        </p:nvSpPr>
        <p:spPr>
          <a:xfrm>
            <a:off x="548640" y="1569250"/>
            <a:ext cx="80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</a:rPr>
              <a:t>TDMA frame (4.615 ms · 8 timeslots)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789250"/>
            <a:ext cx="950000" cy="43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0"/>
          <p:cNvSpPr/>
          <p:nvPr/>
        </p:nvSpPr>
        <p:spPr>
          <a:xfrm>
            <a:off x="548640" y="1789250"/>
            <a:ext cx="9500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</a:rPr>
              <a:t>TS0</a:t>
            </a:r>
          </a:p>
        </p:txBody>
      </p:sp>
      <p:sp>
        <p:nvSpPr>
          <p:cNvPr id="21" name="Shape 21"/>
          <p:cNvSpPr/>
          <p:nvPr/>
        </p:nvSpPr>
        <p:spPr>
          <a:xfrm>
            <a:off x="1518640" y="1789250"/>
            <a:ext cx="950000" cy="43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/>
          <p:nvPr/>
        </p:nvSpPr>
        <p:spPr>
          <a:xfrm>
            <a:off x="1518640" y="1789250"/>
            <a:ext cx="9500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</a:rPr>
              <a:t>TS1</a:t>
            </a:r>
          </a:p>
        </p:txBody>
      </p:sp>
      <p:sp>
        <p:nvSpPr>
          <p:cNvPr id="22" name="Shape 22"/>
          <p:cNvSpPr/>
          <p:nvPr/>
        </p:nvSpPr>
        <p:spPr>
          <a:xfrm>
            <a:off x="2488640" y="1789250"/>
            <a:ext cx="950000" cy="43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2"/>
          <p:cNvSpPr/>
          <p:nvPr/>
        </p:nvSpPr>
        <p:spPr>
          <a:xfrm>
            <a:off x="2488640" y="1789250"/>
            <a:ext cx="9500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</a:rPr>
              <a:t>TS2</a:t>
            </a:r>
          </a:p>
        </p:txBody>
      </p:sp>
      <p:sp>
        <p:nvSpPr>
          <p:cNvPr id="23" name="Shape 23"/>
          <p:cNvSpPr/>
          <p:nvPr/>
        </p:nvSpPr>
        <p:spPr>
          <a:xfrm>
            <a:off x="3458640" y="1789250"/>
            <a:ext cx="950000" cy="430000"/>
          </a:xfrm>
          <a:prstGeom prst="rect">
            <a:avLst/>
          </a:prstGeom>
          <a:solidFill>
            <a:srgbClr val="FAECE7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3"/>
          <p:cNvSpPr/>
          <p:nvPr/>
        </p:nvSpPr>
        <p:spPr>
          <a:xfrm>
            <a:off x="3458640" y="1789250"/>
            <a:ext cx="9500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TS3</a:t>
            </a:r>
          </a:p>
        </p:txBody>
      </p:sp>
      <p:sp>
        <p:nvSpPr>
          <p:cNvPr id="24" name="Shape 24"/>
          <p:cNvSpPr/>
          <p:nvPr/>
        </p:nvSpPr>
        <p:spPr>
          <a:xfrm>
            <a:off x="4428640" y="1789250"/>
            <a:ext cx="950000" cy="43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/>
          <p:nvPr/>
        </p:nvSpPr>
        <p:spPr>
          <a:xfrm>
            <a:off x="4428640" y="1789250"/>
            <a:ext cx="9500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</a:rPr>
              <a:t>TS4</a:t>
            </a:r>
          </a:p>
        </p:txBody>
      </p:sp>
      <p:sp>
        <p:nvSpPr>
          <p:cNvPr id="25" name="Shape 25"/>
          <p:cNvSpPr/>
          <p:nvPr/>
        </p:nvSpPr>
        <p:spPr>
          <a:xfrm>
            <a:off x="5398640" y="1789250"/>
            <a:ext cx="950000" cy="43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5"/>
          <p:cNvSpPr/>
          <p:nvPr/>
        </p:nvSpPr>
        <p:spPr>
          <a:xfrm>
            <a:off x="5398640" y="1789250"/>
            <a:ext cx="9500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</a:rPr>
              <a:t>TS5</a:t>
            </a:r>
          </a:p>
        </p:txBody>
      </p:sp>
      <p:sp>
        <p:nvSpPr>
          <p:cNvPr id="26" name="Shape 26"/>
          <p:cNvSpPr/>
          <p:nvPr/>
        </p:nvSpPr>
        <p:spPr>
          <a:xfrm>
            <a:off x="6368640" y="1789250"/>
            <a:ext cx="950000" cy="43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/>
          <p:cNvSpPr/>
          <p:nvPr/>
        </p:nvSpPr>
        <p:spPr>
          <a:xfrm>
            <a:off x="6368640" y="1789250"/>
            <a:ext cx="9500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</a:rPr>
              <a:t>TS6</a:t>
            </a:r>
          </a:p>
        </p:txBody>
      </p:sp>
      <p:sp>
        <p:nvSpPr>
          <p:cNvPr id="27" name="Shape 27"/>
          <p:cNvSpPr/>
          <p:nvPr/>
        </p:nvSpPr>
        <p:spPr>
          <a:xfrm>
            <a:off x="7338640" y="1789250"/>
            <a:ext cx="950000" cy="43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7"/>
          <p:cNvSpPr/>
          <p:nvPr/>
        </p:nvSpPr>
        <p:spPr>
          <a:xfrm>
            <a:off x="7338640" y="1789250"/>
            <a:ext cx="950000" cy="4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</a:rPr>
              <a:t>TS7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2369250"/>
            <a:ext cx="80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</a:rPr>
              <a:t>One burst = 156.25 symbols ≈ 577 μs</a:t>
            </a:r>
          </a:p>
        </p:txBody>
      </p:sp>
      <p:sp>
        <p:nvSpPr>
          <p:cNvPr id="50" name="Shape 50"/>
          <p:cNvSpPr/>
          <p:nvPr/>
        </p:nvSpPr>
        <p:spPr>
          <a:xfrm>
            <a:off x="548640" y="2619250"/>
            <a:ext cx="500000" cy="55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60"/>
          <p:cNvSpPr/>
          <p:nvPr/>
        </p:nvSpPr>
        <p:spPr>
          <a:xfrm>
            <a:off x="548640" y="2679250"/>
            <a:ext cx="5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</a:rPr>
              <a:t>3 tail</a:t>
            </a:r>
          </a:p>
        </p:txBody>
      </p:sp>
      <p:sp>
        <p:nvSpPr>
          <p:cNvPr id="51" name="Shape 51"/>
          <p:cNvSpPr/>
          <p:nvPr/>
        </p:nvSpPr>
        <p:spPr>
          <a:xfrm>
            <a:off x="1048640" y="2619250"/>
            <a:ext cx="1900000" cy="55000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61"/>
          <p:cNvSpPr/>
          <p:nvPr/>
        </p:nvSpPr>
        <p:spPr>
          <a:xfrm>
            <a:off x="1048640" y="2679250"/>
            <a:ext cx="19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</a:rPr>
              <a:t>58 data</a:t>
            </a:r>
          </a:p>
        </p:txBody>
      </p:sp>
      <p:sp>
        <p:nvSpPr>
          <p:cNvPr id="71" name="Text 71"/>
          <p:cNvSpPr/>
          <p:nvPr/>
        </p:nvSpPr>
        <p:spPr>
          <a:xfrm>
            <a:off x="1048640" y="2899250"/>
            <a:ext cx="19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</a:rPr>
              <a:t>(payload)</a:t>
            </a:r>
          </a:p>
        </p:txBody>
      </p:sp>
      <p:sp>
        <p:nvSpPr>
          <p:cNvPr id="52" name="Shape 52"/>
          <p:cNvSpPr/>
          <p:nvPr/>
        </p:nvSpPr>
        <p:spPr>
          <a:xfrm>
            <a:off x="2948640" y="2619250"/>
            <a:ext cx="750000" cy="550000"/>
          </a:xfrm>
          <a:prstGeom prst="rect">
            <a:avLst/>
          </a:prstGeom>
          <a:solidFill>
            <a:srgbClr val="FAE5B8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2"/>
          <p:cNvSpPr/>
          <p:nvPr/>
        </p:nvSpPr>
        <p:spPr>
          <a:xfrm>
            <a:off x="2948640" y="2679250"/>
            <a:ext cx="75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</a:rPr>
              <a:t>26</a:t>
            </a:r>
          </a:p>
        </p:txBody>
      </p:sp>
      <p:sp>
        <p:nvSpPr>
          <p:cNvPr id="72" name="Text 72"/>
          <p:cNvSpPr/>
          <p:nvPr/>
        </p:nvSpPr>
        <p:spPr>
          <a:xfrm>
            <a:off x="2948640" y="2899250"/>
            <a:ext cx="75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</a:rPr>
              <a:t>training</a:t>
            </a:r>
          </a:p>
        </p:txBody>
      </p:sp>
      <p:sp>
        <p:nvSpPr>
          <p:cNvPr id="53" name="Shape 53"/>
          <p:cNvSpPr/>
          <p:nvPr/>
        </p:nvSpPr>
        <p:spPr>
          <a:xfrm>
            <a:off x="3698640" y="2619250"/>
            <a:ext cx="1900000" cy="55000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3"/>
          <p:cNvSpPr/>
          <p:nvPr/>
        </p:nvSpPr>
        <p:spPr>
          <a:xfrm>
            <a:off x="3698640" y="2679250"/>
            <a:ext cx="19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</a:rPr>
              <a:t>58 data</a:t>
            </a:r>
          </a:p>
        </p:txBody>
      </p:sp>
      <p:sp>
        <p:nvSpPr>
          <p:cNvPr id="73" name="Text 73"/>
          <p:cNvSpPr/>
          <p:nvPr/>
        </p:nvSpPr>
        <p:spPr>
          <a:xfrm>
            <a:off x="3698640" y="2899250"/>
            <a:ext cx="19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</a:rPr>
              <a:t>(payload)</a:t>
            </a:r>
          </a:p>
        </p:txBody>
      </p:sp>
      <p:sp>
        <p:nvSpPr>
          <p:cNvPr id="54" name="Shape 54"/>
          <p:cNvSpPr/>
          <p:nvPr/>
        </p:nvSpPr>
        <p:spPr>
          <a:xfrm>
            <a:off x="5598640" y="2619250"/>
            <a:ext cx="500000" cy="55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4"/>
          <p:cNvSpPr/>
          <p:nvPr/>
        </p:nvSpPr>
        <p:spPr>
          <a:xfrm>
            <a:off x="5598640" y="2679250"/>
            <a:ext cx="5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</a:rPr>
              <a:t>3 tail</a:t>
            </a:r>
          </a:p>
        </p:txBody>
      </p:sp>
      <p:sp>
        <p:nvSpPr>
          <p:cNvPr id="80" name="Text 80"/>
          <p:cNvSpPr/>
          <p:nvPr/>
        </p:nvSpPr>
        <p:spPr>
          <a:xfrm>
            <a:off x="548640" y="3329250"/>
            <a:ext cx="80000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93C1D"/>
                </a:solidFill>
                <a:latin typeface="Calibri" pitchFamily="34" charset="0"/>
              </a:rPr>
              <a:t>The slot layout is fixed. The question is: how many bits fit in the data fields?</a:t>
            </a:r>
          </a:p>
        </p:txBody>
      </p:sp>
      <p:sp>
        <p:nvSpPr>
          <p:cNvPr id="81" name="Text 81"/>
          <p:cNvSpPr/>
          <p:nvPr/>
        </p:nvSpPr>
        <p:spPr>
          <a:xfrm>
            <a:off x="548640" y="3709250"/>
            <a:ext cx="80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</a:rPr>
              <a:t>EDGE keeps all of this. The change comes one layer up — at the modulation.</a:t>
            </a:r>
          </a:p>
        </p:txBody>
      </p:sp>
      <p:sp>
        <p:nvSpPr>
          <p:cNvPr id="299" name="Text 29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Radio / Air Interface · 3 · Physical Layer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"/>
          <p:cNvSpPr/>
          <p:nvPr/>
        </p:nvSpPr>
        <p:spPr>
          <a:xfrm>
            <a:off x="365760" y="109728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The Actual Change: GMSK → 8-PSK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1169250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D4"/>
                </a:solidFill>
                <a:latin typeface="Calibri" pitchFamily="34" charset="0"/>
              </a:rPr>
              <a:t>Same symbol rate. 3× the bits per symbol. 3× the data rate.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609250"/>
            <a:ext cx="3600000" cy="24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548640" y="1659250"/>
            <a:ext cx="3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</a:rPr>
              <a:t>GMSK (GSM / GPRS / EDGE MCS-1 to 4)</a:t>
            </a:r>
          </a:p>
        </p:txBody>
      </p:sp>
      <p:sp>
        <p:nvSpPr>
          <p:cNvPr id="22" name="Text 22"/>
          <p:cNvSpPr/>
          <p:nvPr/>
        </p:nvSpPr>
        <p:spPr>
          <a:xfrm>
            <a:off x="548640" y="2729250"/>
            <a:ext cx="3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2B55"/>
                </a:solidFill>
                <a:latin typeface="Calibri" pitchFamily="34" charset="0"/>
              </a:rPr>
              <a:t>1 bit / symbol</a:t>
            </a:r>
          </a:p>
        </p:txBody>
      </p:sp>
      <p:sp>
        <p:nvSpPr>
          <p:cNvPr id="23" name="Text 23"/>
          <p:cNvSpPr/>
          <p:nvPr/>
        </p:nvSpPr>
        <p:spPr>
          <a:xfrm>
            <a:off x="548640" y="3069250"/>
            <a:ext cx="36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</a:rPr>
              <a:t>22.8 kbps per timeslot</a:t>
            </a:r>
          </a:p>
        </p:txBody>
      </p:sp>
      <p:sp>
        <p:nvSpPr>
          <p:cNvPr id="24" name="Text 24"/>
          <p:cNvSpPr/>
          <p:nvPr/>
        </p:nvSpPr>
        <p:spPr>
          <a:xfrm>
            <a:off x="4200000" y="2149250"/>
            <a:ext cx="80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C25B3F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25" name="Text 25"/>
          <p:cNvSpPr/>
          <p:nvPr/>
        </p:nvSpPr>
        <p:spPr>
          <a:xfrm>
            <a:off x="4123740" y="2849250"/>
            <a:ext cx="11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C25B3F"/>
                </a:solidFill>
                <a:latin typeface="Calibri" pitchFamily="34" charset="0"/>
              </a:rPr>
              <a:t>same symbol rate</a:t>
            </a:r>
          </a:p>
        </p:txBody>
      </p:sp>
      <p:sp>
        <p:nvSpPr>
          <p:cNvPr id="26" name="Text 26"/>
          <p:cNvSpPr/>
          <p:nvPr/>
        </p:nvSpPr>
        <p:spPr>
          <a:xfrm>
            <a:off x="4160610" y="3069250"/>
            <a:ext cx="11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C25B3F"/>
                </a:solidFill>
                <a:latin typeface="Calibri" pitchFamily="34" charset="0"/>
              </a:rPr>
              <a:t>(270.833 ksps)</a:t>
            </a:r>
          </a:p>
        </p:txBody>
      </p:sp>
      <p:sp>
        <p:nvSpPr>
          <p:cNvPr id="27" name="Shape 27"/>
          <p:cNvSpPr/>
          <p:nvPr/>
        </p:nvSpPr>
        <p:spPr>
          <a:xfrm>
            <a:off x="5200000" y="1609250"/>
            <a:ext cx="3600000" cy="2400000"/>
          </a:xfrm>
          <a:prstGeom prst="rect">
            <a:avLst/>
          </a:prstGeom>
          <a:solidFill>
            <a:srgbClr val="FAECE7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/>
          <p:nvPr/>
        </p:nvSpPr>
        <p:spPr>
          <a:xfrm>
            <a:off x="5200000" y="1659250"/>
            <a:ext cx="3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</a:rPr>
              <a:t>8-PSK (EDGE MCS-5 to 9)</a:t>
            </a:r>
          </a:p>
        </p:txBody>
      </p:sp>
      <p:sp>
        <p:nvSpPr>
          <p:cNvPr id="29" name="Text 29"/>
          <p:cNvSpPr/>
          <p:nvPr/>
        </p:nvSpPr>
        <p:spPr>
          <a:xfrm>
            <a:off x="5200000" y="2729250"/>
            <a:ext cx="3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25B3F"/>
                </a:solidFill>
                <a:latin typeface="Calibri" pitchFamily="34" charset="0"/>
              </a:rPr>
              <a:t>3 bits / symbol</a:t>
            </a:r>
          </a:p>
        </p:txBody>
      </p:sp>
      <p:sp>
        <p:nvSpPr>
          <p:cNvPr id="30" name="Text 30"/>
          <p:cNvSpPr/>
          <p:nvPr/>
        </p:nvSpPr>
        <p:spPr>
          <a:xfrm>
            <a:off x="5200000" y="3069250"/>
            <a:ext cx="36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25B3F"/>
                </a:solidFill>
                <a:latin typeface="Calibri" pitchFamily="34" charset="0"/>
              </a:rPr>
              <a:t>69.2 kbps per timeslot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4066700"/>
            <a:ext cx="80000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</a:rPr>
              <a:t>Each symbol is one of 8 phase states instead of 2. The receiver must distinguish finer differences, so 8-PSK needs a cleaner channel — which is why EDGE keeps GMSK as a fallback for weaker signals.</a:t>
            </a:r>
          </a:p>
        </p:txBody>
      </p:sp>
      <p:sp>
        <p:nvSpPr>
          <p:cNvPr id="299" name="Text 29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Radio / Air Interface · 4 · Modulation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"/>
          <p:cNvSpPr/>
          <p:nvPr/>
        </p:nvSpPr>
        <p:spPr>
          <a:xfrm>
            <a:off x="365760" y="109728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9 Coding Schemes + Link Adaptation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1169250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D4"/>
                </a:solidFill>
                <a:latin typeface="Calibri" pitchFamily="34" charset="0"/>
              </a:rPr>
              <a:t>The system picks the best MCS for the current channel — every 20 ms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649250"/>
            <a:ext cx="3600000" cy="350000"/>
          </a:xfrm>
          <a:prstGeom prst="rect">
            <a:avLst/>
          </a:prstGeom>
          <a:solidFill>
            <a:srgbClr val="E8F4F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548640" y="1649250"/>
            <a:ext cx="36000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</a:rPr>
              <a:t>GMSK Schemes (MCS-1 to 4)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2049250"/>
            <a:ext cx="3600000" cy="42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0"/>
          <p:cNvSpPr/>
          <p:nvPr/>
        </p:nvSpPr>
        <p:spPr>
          <a:xfrm>
            <a:off x="600000" y="2109250"/>
            <a:ext cx="12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</a:rPr>
              <a:t>MCS-1</a:t>
            </a:r>
          </a:p>
        </p:txBody>
      </p:sp>
      <p:sp>
        <p:nvSpPr>
          <p:cNvPr id="50" name="Text 50"/>
          <p:cNvSpPr/>
          <p:nvPr/>
        </p:nvSpPr>
        <p:spPr>
          <a:xfrm>
            <a:off x="1850000" y="2109250"/>
            <a:ext cx="9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</a:rPr>
              <a:t>8.8 kbps</a:t>
            </a:r>
          </a:p>
        </p:txBody>
      </p:sp>
      <p:sp>
        <p:nvSpPr>
          <p:cNvPr id="60" name="Text 60"/>
          <p:cNvSpPr/>
          <p:nvPr/>
        </p:nvSpPr>
        <p:spPr>
          <a:xfrm>
            <a:off x="2800000" y="2109250"/>
            <a:ext cx="13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</a:rPr>
              <a:t>Robust, best cell-edge coverage</a:t>
            </a:r>
          </a:p>
        </p:txBody>
      </p:sp>
      <p:sp>
        <p:nvSpPr>
          <p:cNvPr id="31" name="Shape 31"/>
          <p:cNvSpPr/>
          <p:nvPr/>
        </p:nvSpPr>
        <p:spPr>
          <a:xfrm>
            <a:off x="548640" y="2499250"/>
            <a:ext cx="3600000" cy="42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41"/>
          <p:cNvSpPr/>
          <p:nvPr/>
        </p:nvSpPr>
        <p:spPr>
          <a:xfrm>
            <a:off x="600000" y="2559250"/>
            <a:ext cx="12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</a:rPr>
              <a:t>MCS-2</a:t>
            </a:r>
          </a:p>
        </p:txBody>
      </p:sp>
      <p:sp>
        <p:nvSpPr>
          <p:cNvPr id="51" name="Text 51"/>
          <p:cNvSpPr/>
          <p:nvPr/>
        </p:nvSpPr>
        <p:spPr>
          <a:xfrm>
            <a:off x="1850000" y="2559250"/>
            <a:ext cx="9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</a:rPr>
              <a:t>11.2 kbps</a:t>
            </a:r>
          </a:p>
        </p:txBody>
      </p:sp>
      <p:sp>
        <p:nvSpPr>
          <p:cNvPr id="61" name="Text 61"/>
          <p:cNvSpPr/>
          <p:nvPr/>
        </p:nvSpPr>
        <p:spPr>
          <a:xfrm>
            <a:off x="2800000" y="2559250"/>
            <a:ext cx="13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</a:rPr>
              <a:t>Good fallback</a:t>
            </a:r>
          </a:p>
        </p:txBody>
      </p:sp>
      <p:sp>
        <p:nvSpPr>
          <p:cNvPr id="32" name="Shape 32"/>
          <p:cNvSpPr/>
          <p:nvPr/>
        </p:nvSpPr>
        <p:spPr>
          <a:xfrm>
            <a:off x="548640" y="2949250"/>
            <a:ext cx="3600000" cy="42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2"/>
          <p:cNvSpPr/>
          <p:nvPr/>
        </p:nvSpPr>
        <p:spPr>
          <a:xfrm>
            <a:off x="600000" y="3009250"/>
            <a:ext cx="12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</a:rPr>
              <a:t>MCS-3</a:t>
            </a:r>
          </a:p>
        </p:txBody>
      </p:sp>
      <p:sp>
        <p:nvSpPr>
          <p:cNvPr id="52" name="Text 52"/>
          <p:cNvSpPr/>
          <p:nvPr/>
        </p:nvSpPr>
        <p:spPr>
          <a:xfrm>
            <a:off x="1850000" y="3009250"/>
            <a:ext cx="9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</a:rPr>
              <a:t>14.8 kbps</a:t>
            </a:r>
          </a:p>
        </p:txBody>
      </p:sp>
      <p:sp>
        <p:nvSpPr>
          <p:cNvPr id="33" name="Shape 33"/>
          <p:cNvSpPr/>
          <p:nvPr/>
        </p:nvSpPr>
        <p:spPr>
          <a:xfrm>
            <a:off x="548640" y="3399250"/>
            <a:ext cx="3600000" cy="42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E9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3"/>
          <p:cNvSpPr/>
          <p:nvPr/>
        </p:nvSpPr>
        <p:spPr>
          <a:xfrm>
            <a:off x="600000" y="3459250"/>
            <a:ext cx="12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</a:rPr>
              <a:t>MCS-4</a:t>
            </a:r>
          </a:p>
        </p:txBody>
      </p:sp>
      <p:sp>
        <p:nvSpPr>
          <p:cNvPr id="53" name="Text 53"/>
          <p:cNvSpPr/>
          <p:nvPr/>
        </p:nvSpPr>
        <p:spPr>
          <a:xfrm>
            <a:off x="1850000" y="3459250"/>
            <a:ext cx="9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</a:rPr>
              <a:t>17.6 kbps</a:t>
            </a:r>
          </a:p>
        </p:txBody>
      </p:sp>
      <p:sp>
        <p:nvSpPr>
          <p:cNvPr id="63" name="Text 63"/>
          <p:cNvSpPr/>
          <p:nvPr/>
        </p:nvSpPr>
        <p:spPr>
          <a:xfrm>
            <a:off x="2800000" y="3459250"/>
            <a:ext cx="13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</a:rPr>
              <a:t>Best GMSK scheme</a:t>
            </a:r>
          </a:p>
        </p:txBody>
      </p:sp>
      <p:sp>
        <p:nvSpPr>
          <p:cNvPr id="22" name="Shape 22"/>
          <p:cNvSpPr/>
          <p:nvPr/>
        </p:nvSpPr>
        <p:spPr>
          <a:xfrm>
            <a:off x="4450000" y="1649250"/>
            <a:ext cx="4200000" cy="350000"/>
          </a:xfrm>
          <a:prstGeom prst="rect">
            <a:avLst/>
          </a:prstGeom>
          <a:solidFill>
            <a:srgbClr val="FAECE7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/>
          <p:nvPr/>
        </p:nvSpPr>
        <p:spPr>
          <a:xfrm>
            <a:off x="4450000" y="1649250"/>
            <a:ext cx="42000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</a:rPr>
              <a:t>8-PSK Schemes (MCS-5 to 9)</a:t>
            </a:r>
          </a:p>
        </p:txBody>
      </p:sp>
      <p:sp>
        <p:nvSpPr>
          <p:cNvPr id="70" name="Shape 70"/>
          <p:cNvSpPr/>
          <p:nvPr/>
        </p:nvSpPr>
        <p:spPr>
          <a:xfrm>
            <a:off x="4450000" y="2049250"/>
            <a:ext cx="4200000" cy="340000"/>
          </a:xfrm>
          <a:prstGeom prst="rect">
            <a:avLst/>
          </a:prstGeom>
          <a:solidFill>
            <a:srgbClr val="F8EDE8"/>
          </a:solidFill>
          <a:ln w="12700">
            <a:solidFill>
              <a:srgbClr val="F0C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80"/>
          <p:cNvSpPr/>
          <p:nvPr/>
        </p:nvSpPr>
        <p:spPr>
          <a:xfrm>
            <a:off x="4500000" y="2099250"/>
            <a:ext cx="12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</a:rPr>
              <a:t>MCS-5</a:t>
            </a:r>
          </a:p>
        </p:txBody>
      </p:sp>
      <p:sp>
        <p:nvSpPr>
          <p:cNvPr id="90" name="Text 90"/>
          <p:cNvSpPr/>
          <p:nvPr/>
        </p:nvSpPr>
        <p:spPr>
          <a:xfrm>
            <a:off x="5750000" y="2099250"/>
            <a:ext cx="11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22.4 kbps</a:t>
            </a:r>
          </a:p>
        </p:txBody>
      </p:sp>
      <p:sp>
        <p:nvSpPr>
          <p:cNvPr id="100" name="Text 100"/>
          <p:cNvSpPr/>
          <p:nvPr/>
        </p:nvSpPr>
        <p:spPr>
          <a:xfrm>
            <a:off x="6900000" y="2099250"/>
            <a:ext cx="17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</a:rPr>
              <a:t>Entry 8-PSK</a:t>
            </a:r>
          </a:p>
        </p:txBody>
      </p:sp>
      <p:sp>
        <p:nvSpPr>
          <p:cNvPr id="71" name="Shape 71"/>
          <p:cNvSpPr/>
          <p:nvPr/>
        </p:nvSpPr>
        <p:spPr>
          <a:xfrm>
            <a:off x="4450000" y="2419250"/>
            <a:ext cx="4200000" cy="3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0C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81"/>
          <p:cNvSpPr/>
          <p:nvPr/>
        </p:nvSpPr>
        <p:spPr>
          <a:xfrm>
            <a:off x="4500000" y="2469250"/>
            <a:ext cx="12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</a:rPr>
              <a:t>MCS-6</a:t>
            </a:r>
          </a:p>
        </p:txBody>
      </p:sp>
      <p:sp>
        <p:nvSpPr>
          <p:cNvPr id="91" name="Text 91"/>
          <p:cNvSpPr/>
          <p:nvPr/>
        </p:nvSpPr>
        <p:spPr>
          <a:xfrm>
            <a:off x="5750000" y="2469250"/>
            <a:ext cx="11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29.6 kbps</a:t>
            </a:r>
          </a:p>
        </p:txBody>
      </p:sp>
      <p:sp>
        <p:nvSpPr>
          <p:cNvPr id="72" name="Shape 72"/>
          <p:cNvSpPr/>
          <p:nvPr/>
        </p:nvSpPr>
        <p:spPr>
          <a:xfrm>
            <a:off x="4450000" y="2789250"/>
            <a:ext cx="4200000" cy="340000"/>
          </a:xfrm>
          <a:prstGeom prst="rect">
            <a:avLst/>
          </a:prstGeom>
          <a:solidFill>
            <a:srgbClr val="F8EDE8"/>
          </a:solidFill>
          <a:ln w="12700">
            <a:solidFill>
              <a:srgbClr val="F0C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2"/>
          <p:cNvSpPr/>
          <p:nvPr/>
        </p:nvSpPr>
        <p:spPr>
          <a:xfrm>
            <a:off x="4500000" y="2839250"/>
            <a:ext cx="12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</a:rPr>
              <a:t>MCS-7</a:t>
            </a:r>
          </a:p>
        </p:txBody>
      </p:sp>
      <p:sp>
        <p:nvSpPr>
          <p:cNvPr id="92" name="Text 92"/>
          <p:cNvSpPr/>
          <p:nvPr/>
        </p:nvSpPr>
        <p:spPr>
          <a:xfrm>
            <a:off x="5750000" y="2839250"/>
            <a:ext cx="11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44.8 kbps</a:t>
            </a:r>
          </a:p>
        </p:txBody>
      </p:sp>
      <p:sp>
        <p:nvSpPr>
          <p:cNvPr id="102" name="Text 102"/>
          <p:cNvSpPr/>
          <p:nvPr/>
        </p:nvSpPr>
        <p:spPr>
          <a:xfrm>
            <a:off x="6900000" y="2839250"/>
            <a:ext cx="17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</a:rPr>
              <a:t>High throughput</a:t>
            </a:r>
          </a:p>
        </p:txBody>
      </p:sp>
      <p:sp>
        <p:nvSpPr>
          <p:cNvPr id="73" name="Shape 73"/>
          <p:cNvSpPr/>
          <p:nvPr/>
        </p:nvSpPr>
        <p:spPr>
          <a:xfrm>
            <a:off x="4450000" y="3159250"/>
            <a:ext cx="4200000" cy="3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0C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3"/>
          <p:cNvSpPr/>
          <p:nvPr/>
        </p:nvSpPr>
        <p:spPr>
          <a:xfrm>
            <a:off x="4500000" y="3209250"/>
            <a:ext cx="12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</a:rPr>
              <a:t>MCS-8</a:t>
            </a:r>
          </a:p>
        </p:txBody>
      </p:sp>
      <p:sp>
        <p:nvSpPr>
          <p:cNvPr id="93" name="Text 93"/>
          <p:cNvSpPr/>
          <p:nvPr/>
        </p:nvSpPr>
        <p:spPr>
          <a:xfrm>
            <a:off x="5750000" y="3209250"/>
            <a:ext cx="11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54.4 kbps</a:t>
            </a:r>
          </a:p>
        </p:txBody>
      </p:sp>
      <p:sp>
        <p:nvSpPr>
          <p:cNvPr id="74" name="Shape 74"/>
          <p:cNvSpPr/>
          <p:nvPr/>
        </p:nvSpPr>
        <p:spPr>
          <a:xfrm>
            <a:off x="4450000" y="3529250"/>
            <a:ext cx="4200000" cy="340000"/>
          </a:xfrm>
          <a:prstGeom prst="rect">
            <a:avLst/>
          </a:prstGeom>
          <a:solidFill>
            <a:srgbClr val="F8EDE8"/>
          </a:solidFill>
          <a:ln w="12700">
            <a:solidFill>
              <a:srgbClr val="F0C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4"/>
          <p:cNvSpPr/>
          <p:nvPr/>
        </p:nvSpPr>
        <p:spPr>
          <a:xfrm>
            <a:off x="4500000" y="3579250"/>
            <a:ext cx="12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</a:rPr>
              <a:t>MCS-9</a:t>
            </a:r>
          </a:p>
        </p:txBody>
      </p:sp>
      <p:sp>
        <p:nvSpPr>
          <p:cNvPr id="94" name="Text 94"/>
          <p:cNvSpPr/>
          <p:nvPr/>
        </p:nvSpPr>
        <p:spPr>
          <a:xfrm>
            <a:off x="5750000" y="3579250"/>
            <a:ext cx="11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59.2 kbps</a:t>
            </a:r>
          </a:p>
        </p:txBody>
      </p:sp>
      <p:sp>
        <p:nvSpPr>
          <p:cNvPr id="104" name="Text 104"/>
          <p:cNvSpPr/>
          <p:nvPr/>
        </p:nvSpPr>
        <p:spPr>
          <a:xfrm>
            <a:off x="6900000" y="3579250"/>
            <a:ext cx="17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</a:rPr>
              <a:t>Peak: near-tower only</a:t>
            </a:r>
          </a:p>
        </p:txBody>
      </p:sp>
      <p:sp>
        <p:nvSpPr>
          <p:cNvPr id="110" name="Text 110"/>
          <p:cNvSpPr/>
          <p:nvPr/>
        </p:nvSpPr>
        <p:spPr>
          <a:xfrm>
            <a:off x="548640" y="3999250"/>
            <a:ext cx="8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</a:rPr>
              <a:t>Link Adaptation re-selects the MCS every TTI = 20 ms based on channel quality (C/I measurement)</a:t>
            </a:r>
          </a:p>
        </p:txBody>
      </p:sp>
      <p:sp>
        <p:nvSpPr>
          <p:cNvPr id="299" name="Text 29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Radio / Air Interface · 5 · Coding &amp; Link Adaptation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"/>
          <p:cNvSpPr/>
          <p:nvPr/>
        </p:nvSpPr>
        <p:spPr>
          <a:xfrm>
            <a:off x="365760" y="109728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Incremental Redundancy (IR)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1194650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D4"/>
                </a:solidFill>
                <a:latin typeface="Calibri" pitchFamily="34" charset="0"/>
              </a:rPr>
              <a:t>The safety net when Link Adaptation picks too aggressively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744500"/>
            <a:ext cx="2000000" cy="6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548640" y="1754500"/>
            <a:ext cx="2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</a:rPr>
              <a:t>1st Transmission</a:t>
            </a:r>
          </a:p>
        </p:txBody>
      </p:sp>
      <p:sp>
        <p:nvSpPr>
          <p:cNvPr id="22" name="Text 22"/>
          <p:cNvSpPr/>
          <p:nvPr/>
        </p:nvSpPr>
        <p:spPr>
          <a:xfrm>
            <a:off x="548640" y="2044500"/>
            <a:ext cx="2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</a:rPr>
              <a:t>Heavy puncturing (few parity bits)</a:t>
            </a:r>
          </a:p>
        </p:txBody>
      </p:sp>
      <p:sp>
        <p:nvSpPr>
          <p:cNvPr id="23" name="Shape 23"/>
          <p:cNvSpPr/>
          <p:nvPr/>
        </p:nvSpPr>
        <p:spPr>
          <a:xfrm>
            <a:off x="2600000" y="2014500"/>
            <a:ext cx="600000" cy="500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3250000" y="1744500"/>
            <a:ext cx="2000000" cy="60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3250000" y="1754500"/>
            <a:ext cx="2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</a:rPr>
              <a:t>Receiver Decodes</a:t>
            </a:r>
          </a:p>
        </p:txBody>
      </p:sp>
      <p:sp>
        <p:nvSpPr>
          <p:cNvPr id="26" name="Text 26"/>
          <p:cNvSpPr/>
          <p:nvPr/>
        </p:nvSpPr>
        <p:spPr>
          <a:xfrm>
            <a:off x="3250000" y="2044500"/>
            <a:ext cx="2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5B3F"/>
                </a:solidFill>
                <a:latin typeface="Calibri" pitchFamily="34" charset="0"/>
              </a:rPr>
              <a:t>CRC check → FAILS!</a:t>
            </a:r>
          </a:p>
        </p:txBody>
      </p:sp>
      <p:sp>
        <p:nvSpPr>
          <p:cNvPr id="27" name="Shape 27"/>
          <p:cNvSpPr/>
          <p:nvPr/>
        </p:nvSpPr>
        <p:spPr>
          <a:xfrm>
            <a:off x="4240000" y="2394500"/>
            <a:ext cx="50000" cy="500000"/>
          </a:xfrm>
          <a:prstGeom prst="rect">
            <a:avLst/>
          </a:prstGeom>
          <a:solidFill>
            <a:srgbClr val="C25B3F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/>
          <p:nvPr/>
        </p:nvSpPr>
        <p:spPr>
          <a:xfrm>
            <a:off x="4217985" y="2494500"/>
            <a:ext cx="6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NACK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2994500"/>
            <a:ext cx="2000000" cy="650000"/>
          </a:xfrm>
          <a:prstGeom prst="rect">
            <a:avLst/>
          </a:prstGeom>
          <a:solidFill>
            <a:srgbClr val="FAECE7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0"/>
          <p:cNvSpPr/>
          <p:nvPr/>
        </p:nvSpPr>
        <p:spPr>
          <a:xfrm>
            <a:off x="548640" y="3004500"/>
            <a:ext cx="2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</a:rPr>
              <a:t>2nd Transmission</a:t>
            </a:r>
          </a:p>
        </p:txBody>
      </p:sp>
      <p:sp>
        <p:nvSpPr>
          <p:cNvPr id="31" name="Text 31"/>
          <p:cNvSpPr/>
          <p:nvPr/>
        </p:nvSpPr>
        <p:spPr>
          <a:xfrm>
            <a:off x="548640" y="3304500"/>
            <a:ext cx="20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</a:rPr>
              <a:t>DIFFERENT parity bits — new info, not a repeat</a:t>
            </a:r>
          </a:p>
        </p:txBody>
      </p:sp>
      <p:sp>
        <p:nvSpPr>
          <p:cNvPr id="32" name="Shape 32"/>
          <p:cNvSpPr/>
          <p:nvPr/>
        </p:nvSpPr>
        <p:spPr>
          <a:xfrm>
            <a:off x="2600000" y="3284500"/>
            <a:ext cx="600000" cy="50000"/>
          </a:xfrm>
          <a:prstGeom prst="rect">
            <a:avLst/>
          </a:prstGeom>
          <a:solidFill>
            <a:srgbClr val="C25B3F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3"/>
          <p:cNvSpPr/>
          <p:nvPr/>
        </p:nvSpPr>
        <p:spPr>
          <a:xfrm>
            <a:off x="3250000" y="2994500"/>
            <a:ext cx="2000000" cy="65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/>
          <p:nvPr/>
        </p:nvSpPr>
        <p:spPr>
          <a:xfrm>
            <a:off x="3250000" y="3004500"/>
            <a:ext cx="2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</a:rPr>
              <a:t>Receiver Combines</a:t>
            </a:r>
          </a:p>
        </p:txBody>
      </p:sp>
      <p:sp>
        <p:nvSpPr>
          <p:cNvPr id="35" name="Text 35"/>
          <p:cNvSpPr/>
          <p:nvPr/>
        </p:nvSpPr>
        <p:spPr>
          <a:xfrm>
            <a:off x="3250000" y="3304500"/>
            <a:ext cx="20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</a:rPr>
              <a:t>stored bits (TX1) + new bits (TX2)</a:t>
            </a:r>
          </a:p>
        </p:txBody>
      </p:sp>
      <p:sp>
        <p:nvSpPr>
          <p:cNvPr id="36" name="Shape 36"/>
          <p:cNvSpPr/>
          <p:nvPr/>
        </p:nvSpPr>
        <p:spPr>
          <a:xfrm>
            <a:off x="5310000" y="3284500"/>
            <a:ext cx="600000" cy="500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7"/>
          <p:cNvSpPr/>
          <p:nvPr/>
        </p:nvSpPr>
        <p:spPr>
          <a:xfrm>
            <a:off x="5970000" y="2994500"/>
            <a:ext cx="2000000" cy="65000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8"/>
          <p:cNvSpPr/>
          <p:nvPr/>
        </p:nvSpPr>
        <p:spPr>
          <a:xfrm>
            <a:off x="5970000" y="3044500"/>
            <a:ext cx="2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6D11"/>
                </a:solidFill>
                <a:latin typeface="Calibri" pitchFamily="34" charset="0"/>
              </a:rPr>
              <a:t>Decoded ✓</a:t>
            </a:r>
          </a:p>
        </p:txBody>
      </p:sp>
      <p:sp>
        <p:nvSpPr>
          <p:cNvPr id="39" name="Text 39"/>
          <p:cNvSpPr/>
          <p:nvPr/>
        </p:nvSpPr>
        <p:spPr>
          <a:xfrm>
            <a:off x="5970000" y="3344500"/>
            <a:ext cx="2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B6D11"/>
                </a:solidFill>
                <a:latin typeface="Calibri" pitchFamily="34" charset="0"/>
              </a:rPr>
              <a:t>Effectively a stronger code</a:t>
            </a:r>
          </a:p>
        </p:txBody>
      </p:sp>
      <p:sp>
        <p:nvSpPr>
          <p:cNvPr id="50" name="Text 50"/>
          <p:cNvSpPr/>
          <p:nvPr/>
        </p:nvSpPr>
        <p:spPr>
          <a:xfrm>
            <a:off x="548640" y="3824500"/>
            <a:ext cx="8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</a:rPr>
              <a:t>Retransmissions add new redundancy, not duplicates — Type-II hybrid ARQ gives 2–5 dB coding gain vs. simple GPRS-style retransmit.</a:t>
            </a:r>
          </a:p>
        </p:txBody>
      </p:sp>
      <p:sp>
        <p:nvSpPr>
          <p:cNvPr id="51" name="Text 51"/>
          <p:cNvSpPr/>
          <p:nvPr/>
        </p:nvSpPr>
        <p:spPr>
          <a:xfrm>
            <a:off x="548640" y="4144500"/>
            <a:ext cx="8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</a:rPr>
              <a:t>Together, Link Adaptation picks the MCS and IR cleans up when the choice was too optimistic.</a:t>
            </a:r>
          </a:p>
        </p:txBody>
      </p:sp>
      <p:sp>
        <p:nvSpPr>
          <p:cNvPr id="299" name="Text 29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Radio / Air Interface · 6 · Incremental Redundancy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"/>
          <p:cNvSpPr/>
          <p:nvPr/>
        </p:nvSpPr>
        <p:spPr>
          <a:xfrm>
            <a:off x="365760" y="109728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Channel Structure — Inherited from GPRS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1181950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D4"/>
                </a:solidFill>
                <a:latin typeface="Calibri" pitchFamily="34" charset="0"/>
              </a:rPr>
              <a:t>EDGE adds no new channels. It just runs faster on the existing ones.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641950"/>
            <a:ext cx="2000000" cy="112995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548640" y="1661950"/>
            <a:ext cx="2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</a:rPr>
              <a:t>Physical Channel</a:t>
            </a:r>
          </a:p>
        </p:txBody>
      </p:sp>
      <p:sp>
        <p:nvSpPr>
          <p:cNvPr id="22" name="Text 22"/>
          <p:cNvSpPr/>
          <p:nvPr/>
        </p:nvSpPr>
        <p:spPr>
          <a:xfrm>
            <a:off x="548640" y="1951950"/>
            <a:ext cx="20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2B55"/>
                </a:solidFill>
                <a:latin typeface="Calibri" pitchFamily="34" charset="0"/>
              </a:rPr>
              <a:t>PDCH</a:t>
            </a:r>
          </a:p>
        </p:txBody>
      </p:sp>
      <p:sp>
        <p:nvSpPr>
          <p:cNvPr id="23" name="Text 23"/>
          <p:cNvSpPr/>
          <p:nvPr/>
        </p:nvSpPr>
        <p:spPr>
          <a:xfrm>
            <a:off x="548640" y="2261950"/>
            <a:ext cx="200000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</a:rPr>
              <a:t>Packet Data Channel — one timeslot reserved for packets on a 52-frame multiframe</a:t>
            </a:r>
          </a:p>
        </p:txBody>
      </p:sp>
      <p:sp>
        <p:nvSpPr>
          <p:cNvPr id="24" name="Shape 24"/>
          <p:cNvSpPr/>
          <p:nvPr/>
        </p:nvSpPr>
        <p:spPr>
          <a:xfrm>
            <a:off x="2600000" y="2061950"/>
            <a:ext cx="500000" cy="500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2550000" y="1892958"/>
            <a:ext cx="6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</a:rPr>
              <a:t>carries</a:t>
            </a:r>
          </a:p>
        </p:txBody>
      </p:sp>
      <p:sp>
        <p:nvSpPr>
          <p:cNvPr id="26" name="Text 26"/>
          <p:cNvSpPr/>
          <p:nvPr/>
        </p:nvSpPr>
        <p:spPr>
          <a:xfrm>
            <a:off x="3200000" y="1621950"/>
            <a:ext cx="54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</a:rPr>
              <a:t>Logical Channels on the PDCH</a:t>
            </a:r>
          </a:p>
        </p:txBody>
      </p:sp>
      <p:sp>
        <p:nvSpPr>
          <p:cNvPr id="27" name="Shape 27"/>
          <p:cNvSpPr/>
          <p:nvPr/>
        </p:nvSpPr>
        <p:spPr>
          <a:xfrm>
            <a:off x="3200000" y="1841950"/>
            <a:ext cx="1700000" cy="700000"/>
          </a:xfrm>
          <a:prstGeom prst="rect">
            <a:avLst/>
          </a:prstGeom>
          <a:solidFill>
            <a:srgbClr val="FAECE7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/>
          <p:nvPr/>
        </p:nvSpPr>
        <p:spPr>
          <a:xfrm>
            <a:off x="3200000" y="1851950"/>
            <a:ext cx="17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93C1D"/>
                </a:solidFill>
                <a:latin typeface="Calibri" pitchFamily="34" charset="0"/>
              </a:rPr>
              <a:t>PDTCH</a:t>
            </a:r>
          </a:p>
        </p:txBody>
      </p:sp>
      <p:sp>
        <p:nvSpPr>
          <p:cNvPr id="29" name="Text 29"/>
          <p:cNvSpPr/>
          <p:nvPr/>
        </p:nvSpPr>
        <p:spPr>
          <a:xfrm>
            <a:off x="3200000" y="2111950"/>
            <a:ext cx="1700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93C1D"/>
                </a:solidFill>
                <a:latin typeface="Calibri" pitchFamily="34" charset="0"/>
              </a:rPr>
              <a:t>Packet Data Traffic (user payload)</a:t>
            </a:r>
          </a:p>
        </p:txBody>
      </p:sp>
      <p:sp>
        <p:nvSpPr>
          <p:cNvPr id="30" name="Shape 30"/>
          <p:cNvSpPr/>
          <p:nvPr/>
        </p:nvSpPr>
        <p:spPr>
          <a:xfrm>
            <a:off x="4960000" y="1841950"/>
            <a:ext cx="1600000" cy="7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/>
          <p:nvPr/>
        </p:nvSpPr>
        <p:spPr>
          <a:xfrm>
            <a:off x="4960000" y="1851950"/>
            <a:ext cx="16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</a:rPr>
              <a:t>PACCH</a:t>
            </a:r>
          </a:p>
        </p:txBody>
      </p:sp>
      <p:sp>
        <p:nvSpPr>
          <p:cNvPr id="32" name="Text 32"/>
          <p:cNvSpPr/>
          <p:nvPr/>
        </p:nvSpPr>
        <p:spPr>
          <a:xfrm>
            <a:off x="4960000" y="2111950"/>
            <a:ext cx="1600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</a:rPr>
              <a:t>Dedicated control: ACK/NACK, power ctrl</a:t>
            </a:r>
          </a:p>
        </p:txBody>
      </p:sp>
      <p:sp>
        <p:nvSpPr>
          <p:cNvPr id="33" name="Shape 33"/>
          <p:cNvSpPr/>
          <p:nvPr/>
        </p:nvSpPr>
        <p:spPr>
          <a:xfrm>
            <a:off x="6620000" y="1841950"/>
            <a:ext cx="1700000" cy="7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/>
          <p:nvPr/>
        </p:nvSpPr>
        <p:spPr>
          <a:xfrm>
            <a:off x="6620000" y="1851950"/>
            <a:ext cx="17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</a:rPr>
              <a:t>PBCCH · PCCCH</a:t>
            </a:r>
          </a:p>
        </p:txBody>
      </p:sp>
      <p:sp>
        <p:nvSpPr>
          <p:cNvPr id="35" name="Text 35"/>
          <p:cNvSpPr/>
          <p:nvPr/>
        </p:nvSpPr>
        <p:spPr>
          <a:xfrm>
            <a:off x="6620000" y="2111950"/>
            <a:ext cx="1700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</a:rPr>
              <a:t>Broadcast / common: paging, access grants</a:t>
            </a:r>
          </a:p>
        </p:txBody>
      </p:sp>
      <p:sp>
        <p:nvSpPr>
          <p:cNvPr id="36" name="Shape 36"/>
          <p:cNvSpPr/>
          <p:nvPr/>
        </p:nvSpPr>
        <p:spPr>
          <a:xfrm>
            <a:off x="3200000" y="2621950"/>
            <a:ext cx="5120000" cy="380000"/>
          </a:xfrm>
          <a:prstGeom prst="rect">
            <a:avLst/>
          </a:prstGeom>
          <a:solidFill>
            <a:srgbClr val="EBE9E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7"/>
          <p:cNvSpPr/>
          <p:nvPr/>
        </p:nvSpPr>
        <p:spPr>
          <a:xfrm>
            <a:off x="3200000" y="2695450"/>
            <a:ext cx="512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A"/>
                </a:solidFill>
                <a:latin typeface="Calibri" pitchFamily="34" charset="0"/>
              </a:rPr>
              <a:t>PTCCH — Packet Timing Advance Control Channel: keeps each MS aligned within its TDMA slot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3141950"/>
            <a:ext cx="80000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93C1D"/>
                </a:solidFill>
                <a:latin typeface="Calibri" pitchFamily="34" charset="0"/>
              </a:rPr>
              <a:t>EDGE keeps all of these channels — what it changes is what goes inside the bursts.</a:t>
            </a:r>
          </a:p>
        </p:txBody>
      </p:sp>
      <p:sp>
        <p:nvSpPr>
          <p:cNvPr id="41" name="Text 41"/>
          <p:cNvSpPr/>
          <p:nvPr/>
        </p:nvSpPr>
        <p:spPr>
          <a:xfrm>
            <a:off x="548640" y="3541950"/>
            <a:ext cx="80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The PDTCH now carries 8.8–59.2 kbps of payload (MCS-1 to MCS-9) instead of GPRS’s 8–20 kbps (CS-1 to CS-4). Up to 8 PDTCHs can be aggregated to one mobile.</a:t>
            </a:r>
          </a:p>
        </p:txBody>
      </p:sp>
      <p:sp>
        <p:nvSpPr>
          <p:cNvPr id="299" name="Text 29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Radio / Air Interface · 7 · Channel Structure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"/>
          <p:cNvSpPr/>
          <p:nvPr/>
        </p:nvSpPr>
        <p:spPr>
          <a:xfrm>
            <a:off x="365760" y="1097280"/>
            <a:ext cx="857976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The Numbers, and the Bridge to 3G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1150200"/>
            <a:ext cx="841248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D4"/>
                </a:solidFill>
                <a:latin typeface="Calibri" pitchFamily="34" charset="0"/>
              </a:rPr>
              <a:t>Per timeslot × 8 slots = the headline rate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1610200"/>
            <a:ext cx="2400000" cy="11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548640" y="1640200"/>
            <a:ext cx="2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>Per timeslot</a:t>
            </a:r>
          </a:p>
        </p:txBody>
      </p:sp>
      <p:sp>
        <p:nvSpPr>
          <p:cNvPr id="22" name="Text 22"/>
          <p:cNvSpPr/>
          <p:nvPr/>
        </p:nvSpPr>
        <p:spPr>
          <a:xfrm>
            <a:off x="548640" y="1910200"/>
            <a:ext cx="240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365C"/>
                </a:solidFill>
                <a:latin typeface="Calibri" pitchFamily="34" charset="0"/>
              </a:rPr>
              <a:t>8.8 – 59.2</a:t>
            </a:r>
          </a:p>
        </p:txBody>
      </p:sp>
      <p:sp>
        <p:nvSpPr>
          <p:cNvPr id="23" name="Text 23"/>
          <p:cNvSpPr/>
          <p:nvPr/>
        </p:nvSpPr>
        <p:spPr>
          <a:xfrm>
            <a:off x="548640" y="2370200"/>
            <a:ext cx="2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</a:rPr>
              <a:t>kbps (MCS-1 to MCS-9)</a:t>
            </a:r>
          </a:p>
        </p:txBody>
      </p:sp>
      <p:sp>
        <p:nvSpPr>
          <p:cNvPr id="24" name="Shape 24"/>
          <p:cNvSpPr/>
          <p:nvPr/>
        </p:nvSpPr>
        <p:spPr>
          <a:xfrm>
            <a:off x="3100000" y="1610200"/>
            <a:ext cx="2500000" cy="1100000"/>
          </a:xfrm>
          <a:prstGeom prst="rect">
            <a:avLst/>
          </a:prstGeom>
          <a:solidFill>
            <a:srgbClr val="F3F0E8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3100000" y="1640200"/>
            <a:ext cx="25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>× slots aggregated</a:t>
            </a:r>
          </a:p>
        </p:txBody>
      </p:sp>
      <p:sp>
        <p:nvSpPr>
          <p:cNvPr id="26" name="Text 26"/>
          <p:cNvSpPr/>
          <p:nvPr/>
        </p:nvSpPr>
        <p:spPr>
          <a:xfrm>
            <a:off x="3100000" y="1910200"/>
            <a:ext cx="250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365C"/>
                </a:solidFill>
                <a:latin typeface="Calibri" pitchFamily="34" charset="0"/>
              </a:rPr>
              <a:t>× 4 – 8</a:t>
            </a:r>
          </a:p>
        </p:txBody>
      </p:sp>
      <p:sp>
        <p:nvSpPr>
          <p:cNvPr id="27" name="Text 27"/>
          <p:cNvSpPr/>
          <p:nvPr/>
        </p:nvSpPr>
        <p:spPr>
          <a:xfrm>
            <a:off x="3100000" y="2370200"/>
            <a:ext cx="2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</a:rPr>
              <a:t>multislot class</a:t>
            </a:r>
          </a:p>
        </p:txBody>
      </p:sp>
      <p:sp>
        <p:nvSpPr>
          <p:cNvPr id="28" name="Shape 28"/>
          <p:cNvSpPr/>
          <p:nvPr/>
        </p:nvSpPr>
        <p:spPr>
          <a:xfrm>
            <a:off x="5750000" y="1610200"/>
            <a:ext cx="2700000" cy="1100000"/>
          </a:xfrm>
          <a:prstGeom prst="rect">
            <a:avLst/>
          </a:prstGeom>
          <a:solidFill>
            <a:srgbClr val="FAECE7"/>
          </a:solidFill>
          <a:ln w="12700">
            <a:solidFill>
              <a:srgbClr val="C25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/>
          <p:cNvSpPr/>
          <p:nvPr/>
        </p:nvSpPr>
        <p:spPr>
          <a:xfrm>
            <a:off x="5750000" y="1640200"/>
            <a:ext cx="27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</a:rPr>
              <a:t>Peak user rate</a:t>
            </a:r>
          </a:p>
        </p:txBody>
      </p:sp>
      <p:sp>
        <p:nvSpPr>
          <p:cNvPr id="30" name="Text 30"/>
          <p:cNvSpPr/>
          <p:nvPr/>
        </p:nvSpPr>
        <p:spPr>
          <a:xfrm>
            <a:off x="5750000" y="1910200"/>
            <a:ext cx="270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25B3F"/>
                </a:solidFill>
                <a:latin typeface="Calibri" pitchFamily="34" charset="0"/>
              </a:rPr>
              <a:t>∼384</a:t>
            </a:r>
          </a:p>
        </p:txBody>
      </p:sp>
      <p:sp>
        <p:nvSpPr>
          <p:cNvPr id="31" name="Text 31"/>
          <p:cNvSpPr/>
          <p:nvPr/>
        </p:nvSpPr>
        <p:spPr>
          <a:xfrm>
            <a:off x="5750000" y="2370200"/>
            <a:ext cx="27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</a:rPr>
              <a:t>kbps (8-slot terminal)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2860200"/>
            <a:ext cx="800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</a:rPr>
              <a:t>That was enough to call EDGE “2.75G” — fast enough for early mobile internet, cheap for operators (no core rebuild), a stopgap until UMTS / HSPA / LTE arrived.</a:t>
            </a:r>
          </a:p>
        </p:txBody>
      </p:sp>
      <p:sp>
        <p:nvSpPr>
          <p:cNvPr id="50" name="Text 50"/>
          <p:cNvSpPr/>
          <p:nvPr/>
        </p:nvSpPr>
        <p:spPr>
          <a:xfrm>
            <a:off x="600000" y="3360200"/>
            <a:ext cx="78000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▸  Only the Um air interface changed</a:t>
            </a:r>
          </a:p>
        </p:txBody>
      </p:sp>
      <p:sp>
        <p:nvSpPr>
          <p:cNvPr id="51" name="Text 51"/>
          <p:cNvSpPr/>
          <p:nvPr/>
        </p:nvSpPr>
        <p:spPr>
          <a:xfrm>
            <a:off x="600000" y="3730200"/>
            <a:ext cx="78000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▸  8-PSK tripled the bits per symbol</a:t>
            </a:r>
          </a:p>
        </p:txBody>
      </p:sp>
      <p:sp>
        <p:nvSpPr>
          <p:cNvPr id="52" name="Text 52"/>
          <p:cNvSpPr/>
          <p:nvPr/>
        </p:nvSpPr>
        <p:spPr>
          <a:xfrm>
            <a:off x="600000" y="4100200"/>
            <a:ext cx="78000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B3F"/>
                </a:solidFill>
                <a:latin typeface="Calibri" pitchFamily="34" charset="0"/>
              </a:rPr>
              <a:t>▸  9 MCS schemes + Link Adaptation + IR made it work in real channels</a:t>
            </a:r>
          </a:p>
        </p:txBody>
      </p:sp>
      <p:sp>
        <p:nvSpPr>
          <p:cNvPr id="299" name="Text 29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Radio / Air Interface · 8 · Conclusion</a:t>
            </a:r>
          </a:p>
        </p:txBody>
      </p:sp>
      <p:sp>
        <p:nvSpPr>
          <p:cNvPr id="99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es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11480" y="228600"/>
            <a:ext cx="87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</a:rPr>
              <a:t>References</a:t>
            </a:r>
          </a:p>
        </p:txBody>
      </p:sp>
      <p:sp>
        <p:nvSpPr>
          <p:cNvPr id="4" name="Underline"/>
          <p:cNvSpPr/>
          <p:nvPr/>
        </p:nvSpPr>
        <p:spPr>
          <a:xfrm>
            <a:off x="411480" y="800000"/>
            <a:ext cx="2743200" cy="381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Content"/>
          <p:cNvSpPr/>
          <p:nvPr/>
        </p:nvSpPr>
        <p:spPr>
          <a:xfrm>
            <a:off x="324466" y="876960"/>
            <a:ext cx="9026012" cy="4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  <a:spcBef>
                <a:spcPts val="300"/>
              </a:spcBef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</a:rPr>
              <a:t>[1]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 T.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</a:rPr>
              <a:t>Halonen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, J. Romero, and J. Melero, GSM, GPRS and EDGE Performance: Evolution.</a:t>
            </a:r>
          </a:p>
          <a:p>
            <a:pPr>
              <a:lnSpc>
                <a:spcPts val="1800"/>
              </a:lnSpc>
              <a:spcBef>
                <a:spcPts val="300"/>
              </a:spcBef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Towards 3G/UMTS, 2nd ed. Chichester, UK: John Wiley &amp; Sons, 2003.</a:t>
            </a:r>
          </a:p>
          <a:p>
            <a:pPr>
              <a:lnSpc>
                <a:spcPts val="1800"/>
              </a:lnSpc>
              <a:spcBef>
                <a:spcPts val="300"/>
              </a:spcBef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</a:rPr>
              <a:t>[2]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A.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</a:rPr>
              <a:t>Furuskär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, S. Mazur, F. Muller, and H. Olofsson, “EDGE: Enhanced Data Rates for GSM and TDMA/136 Evolution,” IEEE Personal Communications, vol. 6, no. 3, pp. 56–66, Jun. 1999. [Online]. Available:</a:t>
            </a:r>
            <a:br>
              <a:rPr lang="en-US" sz="1200" dirty="0">
                <a:solidFill>
                  <a:srgbClr val="CBD5E1"/>
                </a:solidFill>
                <a:latin typeface="Calibri" pitchFamily="34" charset="0"/>
              </a:rPr>
            </a:b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hlinkClick r:id="rId2"/>
              </a:rPr>
              <a:t>https://courses.cs.washington.edu/courses/cse590y/02sp/furaskar.pdf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 </a:t>
            </a:r>
          </a:p>
          <a:p>
            <a:pPr marL="0" indent="0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</a:rPr>
              <a:t>[3]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T. S. Rappaport, Wireless Communications: Principles and Practice, 2nd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</a:rPr>
              <a:t>ed.Upper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 Saddle River, NJ, USA: Prentice Hall, 2002,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</a:rPr>
              <a:t>ch.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 2, pp. 54–58. [Online].Available: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hlinkClick r:id="rId3"/>
              </a:rPr>
              <a:t>https://telkom2013.wordpress.com/wp-content/uploads/2014/02/wireless-comm-princip-n-practice-theodoresrappaport.pdfn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 </a:t>
            </a:r>
          </a:p>
          <a:p>
            <a:pPr marL="0" indent="0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</a:rPr>
              <a:t>[4]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3GPP TS 45.005, “Radio transmission and reception,” 3rd Generation Partnership Project (3GPP), Release 99.</a:t>
            </a:r>
          </a:p>
          <a:p>
            <a:pPr marL="0" indent="0">
              <a:lnSpc>
                <a:spcPts val="1800"/>
              </a:lnSpc>
              <a:spcBef>
                <a:spcPts val="300"/>
              </a:spcBef>
              <a:buNone/>
            </a:pPr>
            <a:endParaRPr lang="en-US" sz="1200" dirty="0">
              <a:solidFill>
                <a:srgbClr val="CBD5E1"/>
              </a:solidFill>
              <a:latin typeface="Calibri" pitchFamily="34" charset="0"/>
            </a:endParaRPr>
          </a:p>
        </p:txBody>
      </p:sp>
      <p:sp>
        <p:nvSpPr>
          <p:cNvPr id="10" name="PageNum"/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ircle1"/>
          <p:cNvSpPr/>
          <p:nvPr/>
        </p:nvSpPr>
        <p:spPr>
          <a:xfrm>
            <a:off x="6400000" y="-500000"/>
            <a:ext cx="3000000" cy="3000000"/>
          </a:xfrm>
          <a:prstGeom prst="ellipse">
            <a:avLst/>
          </a:prstGeom>
          <a:solidFill>
            <a:srgbClr val="0891B2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ircle2"/>
          <p:cNvSpPr/>
          <p:nvPr/>
        </p:nvSpPr>
        <p:spPr>
          <a:xfrm>
            <a:off x="7200000" y="600000"/>
            <a:ext cx="1500000" cy="1500000"/>
          </a:xfrm>
          <a:prstGeom prst="ellipse">
            <a:avLst/>
          </a:prstGeom>
          <a:solidFill>
            <a:srgbClr val="0A3E5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hankYou"/>
          <p:cNvSpPr/>
          <p:nvPr/>
        </p:nvSpPr>
        <p:spPr>
          <a:xfrm>
            <a:off x="411480" y="1600000"/>
            <a:ext cx="7000000" cy="1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</a:rPr>
              <a:t>Thank You</a:t>
            </a:r>
          </a:p>
        </p:txBody>
      </p:sp>
      <p:sp>
        <p:nvSpPr>
          <p:cNvPr id="4" name="AccentLine"/>
          <p:cNvSpPr/>
          <p:nvPr/>
        </p:nvSpPr>
        <p:spPr>
          <a:xfrm>
            <a:off x="411480" y="2820000"/>
            <a:ext cx="3200000" cy="50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PageNum">
            <a:extLst>
              <a:ext uri="{FF2B5EF4-FFF2-40B4-BE49-F238E27FC236}">
                <a16:creationId xmlns:a16="http://schemas.microsoft.com/office/drawing/2014/main" id="{61ECC3F1-7D07-5EBF-A3AB-600BE838F7C1}"/>
              </a:ext>
            </a:extLst>
          </p:cNvPr>
          <p:cNvSpPr/>
          <p:nvPr/>
        </p:nvSpPr>
        <p:spPr>
          <a:xfrm>
            <a:off x="8229600" y="4800600"/>
            <a:ext cx="91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2730</Words>
  <Application>Microsoft Office PowerPoint</Application>
  <PresentationFormat>On-screen Show (16:9)</PresentationFormat>
  <Paragraphs>447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 Math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Network - Cell Coverage &amp; Interference</dc:title>
  <dc:subject>PptxGenJS Presentation</dc:subject>
  <dc:creator>PptxGenJS</dc:creator>
  <cp:lastModifiedBy>خالد محمد رمضان على</cp:lastModifiedBy>
  <cp:revision>28</cp:revision>
  <dcterms:created xsi:type="dcterms:W3CDTF">2026-05-10T19:38:21Z</dcterms:created>
  <dcterms:modified xsi:type="dcterms:W3CDTF">2026-05-11T12:14:21Z</dcterms:modified>
</cp:coreProperties>
</file>